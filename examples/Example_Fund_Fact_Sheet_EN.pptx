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59984" cy="10691987"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Fund</c:v>
                </c:pt>
              </c:strCache>
            </c:strRef>
          </c:tx>
          <c:spPr>
            <a:ln w="17780"/>
          </c:spPr>
          <c:marker>
            <c:symbol val="none"/>
          </c:marker>
          <c:cat>
            <c:strRef>
              <c:f>Sheet1!$A$2:$A$91</c:f>
              <c:strCache>
                <c:ptCount val="90"/>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pt idx="37">
                  <c:v>2022-02</c:v>
                </c:pt>
                <c:pt idx="38">
                  <c:v>2022-03</c:v>
                </c:pt>
                <c:pt idx="39">
                  <c:v>2022-04</c:v>
                </c:pt>
                <c:pt idx="40">
                  <c:v>2022-05</c:v>
                </c:pt>
                <c:pt idx="41">
                  <c:v>2022-06</c:v>
                </c:pt>
                <c:pt idx="42">
                  <c:v>2022-07</c:v>
                </c:pt>
                <c:pt idx="43">
                  <c:v>2022-08</c:v>
                </c:pt>
                <c:pt idx="44">
                  <c:v>2022-09</c:v>
                </c:pt>
                <c:pt idx="45">
                  <c:v>2022-10</c:v>
                </c:pt>
                <c:pt idx="46">
                  <c:v>2022-11</c:v>
                </c:pt>
                <c:pt idx="47">
                  <c:v>2022-12</c:v>
                </c:pt>
                <c:pt idx="48">
                  <c:v>2023-01</c:v>
                </c:pt>
                <c:pt idx="49">
                  <c:v>2023-02</c:v>
                </c:pt>
                <c:pt idx="50">
                  <c:v>2023-03</c:v>
                </c:pt>
                <c:pt idx="51">
                  <c:v>2023-04</c:v>
                </c:pt>
                <c:pt idx="52">
                  <c:v>2023-05</c:v>
                </c:pt>
                <c:pt idx="53">
                  <c:v>2023-06</c:v>
                </c:pt>
                <c:pt idx="54">
                  <c:v>2023-07</c:v>
                </c:pt>
                <c:pt idx="55">
                  <c:v>2023-08</c:v>
                </c:pt>
                <c:pt idx="56">
                  <c:v>2023-09</c:v>
                </c:pt>
                <c:pt idx="57">
                  <c:v>2023-10</c:v>
                </c:pt>
                <c:pt idx="58">
                  <c:v>2023-11</c:v>
                </c:pt>
                <c:pt idx="59">
                  <c:v>2023-12</c:v>
                </c:pt>
                <c:pt idx="60">
                  <c:v>2024-01</c:v>
                </c:pt>
                <c:pt idx="61">
                  <c:v>2024-02</c:v>
                </c:pt>
                <c:pt idx="62">
                  <c:v>2024-03</c:v>
                </c:pt>
                <c:pt idx="63">
                  <c:v>2024-04</c:v>
                </c:pt>
                <c:pt idx="64">
                  <c:v>2024-05</c:v>
                </c:pt>
                <c:pt idx="65">
                  <c:v>2024-06</c:v>
                </c:pt>
                <c:pt idx="66">
                  <c:v>2024-07</c:v>
                </c:pt>
                <c:pt idx="67">
                  <c:v>2024-08</c:v>
                </c:pt>
                <c:pt idx="68">
                  <c:v>2024-09</c:v>
                </c:pt>
                <c:pt idx="69">
                  <c:v>2024-10</c:v>
                </c:pt>
                <c:pt idx="70">
                  <c:v>2024-11</c:v>
                </c:pt>
                <c:pt idx="71">
                  <c:v>2024-12</c:v>
                </c:pt>
                <c:pt idx="72">
                  <c:v>2025-01</c:v>
                </c:pt>
                <c:pt idx="73">
                  <c:v>2025-02</c:v>
                </c:pt>
                <c:pt idx="74">
                  <c:v>2025-03</c:v>
                </c:pt>
                <c:pt idx="75">
                  <c:v>2025-04</c:v>
                </c:pt>
                <c:pt idx="76">
                  <c:v>2025-05</c:v>
                </c:pt>
                <c:pt idx="77">
                  <c:v>2025-06</c:v>
                </c:pt>
                <c:pt idx="78">
                  <c:v>2025-07</c:v>
                </c:pt>
                <c:pt idx="79">
                  <c:v>2025-08</c:v>
                </c:pt>
                <c:pt idx="80">
                  <c:v>2025-09</c:v>
                </c:pt>
                <c:pt idx="81">
                  <c:v>2025-10</c:v>
                </c:pt>
                <c:pt idx="82">
                  <c:v>2025-11</c:v>
                </c:pt>
                <c:pt idx="83">
                  <c:v>2025-12</c:v>
                </c:pt>
                <c:pt idx="84">
                  <c:v>2026-01</c:v>
                </c:pt>
                <c:pt idx="85">
                  <c:v>2026-02</c:v>
                </c:pt>
                <c:pt idx="86">
                  <c:v>2026-03</c:v>
                </c:pt>
                <c:pt idx="87">
                  <c:v>2026-04</c:v>
                </c:pt>
                <c:pt idx="88">
                  <c:v>2026-05</c:v>
                </c:pt>
                <c:pt idx="89">
                  <c:v>2026-06</c:v>
                </c:pt>
              </c:strCache>
            </c:strRef>
          </c:cat>
          <c:val>
            <c:numRef>
              <c:f>Sheet1!$B$2:$B$91</c:f>
              <c:numCache>
                <c:formatCode>General</c:formatCode>
                <c:ptCount val="90"/>
                <c:pt idx="0">
                  <c:v>10085.558128022163</c:v>
                </c:pt>
                <c:pt idx="1">
                  <c:v>10182.337322045594</c:v>
                </c:pt>
                <c:pt idx="2">
                  <c:v>10209.879938594167</c:v>
                </c:pt>
                <c:pt idx="3">
                  <c:v>10306.089078462453</c:v>
                </c:pt>
                <c:pt idx="4">
                  <c:v>10359.424145293804</c:v>
                </c:pt>
                <c:pt idx="5">
                  <c:v>10445.772348373095</c:v>
                </c:pt>
                <c:pt idx="6">
                  <c:v>10505.488021362029</c:v>
                </c:pt>
                <c:pt idx="7">
                  <c:v>10651.69191073152</c:v>
                </c:pt>
                <c:pt idx="8">
                  <c:v>10731.309474400068</c:v>
                </c:pt>
                <c:pt idx="9">
                  <c:v>10779.72407378701</c:v>
                </c:pt>
                <c:pt idx="10">
                  <c:v>10837.439556757892</c:v>
                </c:pt>
                <c:pt idx="11">
                  <c:v>10857.971507293194</c:v>
                </c:pt>
                <c:pt idx="12">
                  <c:v>10932.378575964716</c:v>
                </c:pt>
                <c:pt idx="13">
                  <c:v>10606.42761062301</c:v>
                </c:pt>
                <c:pt idx="14">
                  <c:v>9825.363409523905</c:v>
                </c:pt>
                <c:pt idx="15">
                  <c:v>9908.431300973592</c:v>
                </c:pt>
                <c:pt idx="16">
                  <c:v>9973.377470859732</c:v>
                </c:pt>
                <c:pt idx="17">
                  <c:v>10042.634050234772</c:v>
                </c:pt>
                <c:pt idx="18">
                  <c:v>10134.522779664068</c:v>
                </c:pt>
                <c:pt idx="19">
                  <c:v>10220.180917187134</c:v>
                </c:pt>
                <c:pt idx="20">
                  <c:v>10336.741990489098</c:v>
                </c:pt>
                <c:pt idx="21">
                  <c:v>10408.278786484716</c:v>
                </c:pt>
                <c:pt idx="22">
                  <c:v>10477.785389612014</c:v>
                </c:pt>
                <c:pt idx="23">
                  <c:v>10591.166160785275</c:v>
                </c:pt>
                <c:pt idx="24">
                  <c:v>10654.682194808507</c:v>
                </c:pt>
                <c:pt idx="25">
                  <c:v>10720.698466354304</c:v>
                </c:pt>
                <c:pt idx="26">
                  <c:v>10799.375940714368</c:v>
                </c:pt>
                <c:pt idx="27">
                  <c:v>10901.015596481666</c:v>
                </c:pt>
                <c:pt idx="28">
                  <c:v>11076.832299068412</c:v>
                </c:pt>
                <c:pt idx="29">
                  <c:v>11185.44261704862</c:v>
                </c:pt>
                <c:pt idx="30">
                  <c:v>11315.975017626675</c:v>
                </c:pt>
                <c:pt idx="31">
                  <c:v>11319.875388161876</c:v>
                </c:pt>
                <c:pt idx="32">
                  <c:v>11350.438291637705</c:v>
                </c:pt>
                <c:pt idx="33">
                  <c:v>11439.426745540826</c:v>
                </c:pt>
                <c:pt idx="34">
                  <c:v>11469.589611013047</c:v>
                </c:pt>
                <c:pt idx="35">
                  <c:v>11649.816732589596</c:v>
                </c:pt>
                <c:pt idx="36">
                  <c:v>11735.384861561848</c:v>
                </c:pt>
                <c:pt idx="37">
                  <c:v>11803.781359229128</c:v>
                </c:pt>
                <c:pt idx="38">
                  <c:v>11879.758577064822</c:v>
                </c:pt>
                <c:pt idx="39">
                  <c:v>11856.55637285542</c:v>
                </c:pt>
                <c:pt idx="40">
                  <c:v>11781.299223426226</c:v>
                </c:pt>
                <c:pt idx="41">
                  <c:v>11746.825948465104</c:v>
                </c:pt>
                <c:pt idx="42">
                  <c:v>11712.59269630615</c:v>
                </c:pt>
                <c:pt idx="43">
                  <c:v>11675.09913441777</c:v>
                </c:pt>
                <c:pt idx="44">
                  <c:v>11630.554902715758</c:v>
                </c:pt>
                <c:pt idx="45">
                  <c:v>11635.365359709172</c:v>
                </c:pt>
                <c:pt idx="46">
                  <c:v>11726.113980828179</c:v>
                </c:pt>
                <c:pt idx="47">
                  <c:v>11813.702301718664</c:v>
                </c:pt>
                <c:pt idx="48">
                  <c:v>11854.016131532497</c:v>
                </c:pt>
                <c:pt idx="49">
                  <c:v>11948.1550747321</c:v>
                </c:pt>
                <c:pt idx="50">
                  <c:v>12037.91360179217</c:v>
                </c:pt>
                <c:pt idx="51">
                  <c:v>12092.40877883399</c:v>
                </c:pt>
                <c:pt idx="52">
                  <c:v>12185.467619423845</c:v>
                </c:pt>
                <c:pt idx="53">
                  <c:v>12276.776293747906</c:v>
                </c:pt>
                <c:pt idx="54">
                  <c:v>12309.199373940524</c:v>
                </c:pt>
                <c:pt idx="55">
                  <c:v>12419.319835384362</c:v>
                </c:pt>
                <c:pt idx="56">
                  <c:v>12442.402028192679</c:v>
                </c:pt>
                <c:pt idx="57">
                  <c:v>12443.22210610008</c:v>
                </c:pt>
                <c:pt idx="58">
                  <c:v>12470.804726449012</c:v>
                </c:pt>
                <c:pt idx="59">
                  <c:v>12596.77669378591</c:v>
                </c:pt>
                <c:pt idx="60">
                  <c:v>12725.92896325151</c:v>
                </c:pt>
                <c:pt idx="61">
                  <c:v>12826.388506908157</c:v>
                </c:pt>
                <c:pt idx="62">
                  <c:v>12906.20608957851</c:v>
                </c:pt>
                <c:pt idx="63">
                  <c:v>12999.354938719178</c:v>
                </c:pt>
                <c:pt idx="64">
                  <c:v>13152.149454198146</c:v>
                </c:pt>
                <c:pt idx="65">
                  <c:v>13211.815122436632</c:v>
                </c:pt>
                <c:pt idx="66">
                  <c:v>13328.586215690491</c:v>
                </c:pt>
                <c:pt idx="67">
                  <c:v>13388.311889629515</c:v>
                </c:pt>
                <c:pt idx="68">
                  <c:v>13525.42491536696</c:v>
                </c:pt>
                <c:pt idx="69">
                  <c:v>13646.466414309358</c:v>
                </c:pt>
                <c:pt idx="70">
                  <c:v>13748.636120431442</c:v>
                </c:pt>
                <c:pt idx="71">
                  <c:v>13830.323880768674</c:v>
                </c:pt>
                <c:pt idx="72">
                  <c:v>13939.594261454838</c:v>
                </c:pt>
                <c:pt idx="73">
                  <c:v>13985.028577714884</c:v>
                </c:pt>
                <c:pt idx="74">
                  <c:v>14115.66098779384</c:v>
                </c:pt>
                <c:pt idx="75">
                  <c:v>14209.069861636855</c:v>
                </c:pt>
                <c:pt idx="76">
                  <c:v>14346.09287882349</c:v>
                </c:pt>
                <c:pt idx="77">
                  <c:v>14408.208779834085</c:v>
                </c:pt>
                <c:pt idx="78">
                  <c:v>14547.752036443462</c:v>
                </c:pt>
                <c:pt idx="79">
                  <c:v>14672.913926823048</c:v>
                </c:pt>
                <c:pt idx="80">
                  <c:v>14869.322585645637</c:v>
                </c:pt>
                <c:pt idx="81">
                  <c:v>14969.472099849487</c:v>
                </c:pt>
                <c:pt idx="82">
                  <c:v>15046.999464949171</c:v>
                </c:pt>
                <c:pt idx="83">
                  <c:v>15162.180407138681</c:v>
                </c:pt>
                <c:pt idx="84">
                  <c:v>15254.109140368335</c:v>
                </c:pt>
                <c:pt idx="85">
                  <c:v>15400.09300883584</c:v>
                </c:pt>
                <c:pt idx="86">
                  <c:v>15523.514733899723</c:v>
                </c:pt>
                <c:pt idx="87">
                  <c:v>15665.938264135093</c:v>
                </c:pt>
                <c:pt idx="88">
                  <c:v>15736.744990774125</c:v>
                </c:pt>
                <c:pt idx="89">
                  <c:v>15765.087683329917</c:v>
                </c:pt>
              </c:numCache>
            </c:numRef>
          </c:val>
          <c:smooth val="0"/>
        </c:ser>
        <c:ser>
          <c:idx val="1"/>
          <c:order val="1"/>
          <c:tx>
            <c:strRef>
              <c:f>Sheet1!$C$1</c:f>
              <c:strCache>
                <c:ptCount val="1"/>
                <c:pt idx="0">
                  <c:v>Benchmark</c:v>
                </c:pt>
              </c:strCache>
            </c:strRef>
          </c:tx>
          <c:spPr>
            <a:ln w="17780"/>
          </c:spPr>
          <c:marker>
            <c:symbol val="none"/>
          </c:marker>
          <c:cat>
            <c:strRef>
              <c:f>Sheet1!$A$2:$A$91</c:f>
              <c:strCache>
                <c:ptCount val="90"/>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pt idx="37">
                  <c:v>2022-02</c:v>
                </c:pt>
                <c:pt idx="38">
                  <c:v>2022-03</c:v>
                </c:pt>
                <c:pt idx="39">
                  <c:v>2022-04</c:v>
                </c:pt>
                <c:pt idx="40">
                  <c:v>2022-05</c:v>
                </c:pt>
                <c:pt idx="41">
                  <c:v>2022-06</c:v>
                </c:pt>
                <c:pt idx="42">
                  <c:v>2022-07</c:v>
                </c:pt>
                <c:pt idx="43">
                  <c:v>2022-08</c:v>
                </c:pt>
                <c:pt idx="44">
                  <c:v>2022-09</c:v>
                </c:pt>
                <c:pt idx="45">
                  <c:v>2022-10</c:v>
                </c:pt>
                <c:pt idx="46">
                  <c:v>2022-11</c:v>
                </c:pt>
                <c:pt idx="47">
                  <c:v>2022-12</c:v>
                </c:pt>
                <c:pt idx="48">
                  <c:v>2023-01</c:v>
                </c:pt>
                <c:pt idx="49">
                  <c:v>2023-02</c:v>
                </c:pt>
                <c:pt idx="50">
                  <c:v>2023-03</c:v>
                </c:pt>
                <c:pt idx="51">
                  <c:v>2023-04</c:v>
                </c:pt>
                <c:pt idx="52">
                  <c:v>2023-05</c:v>
                </c:pt>
                <c:pt idx="53">
                  <c:v>2023-06</c:v>
                </c:pt>
                <c:pt idx="54">
                  <c:v>2023-07</c:v>
                </c:pt>
                <c:pt idx="55">
                  <c:v>2023-08</c:v>
                </c:pt>
                <c:pt idx="56">
                  <c:v>2023-09</c:v>
                </c:pt>
                <c:pt idx="57">
                  <c:v>2023-10</c:v>
                </c:pt>
                <c:pt idx="58">
                  <c:v>2023-11</c:v>
                </c:pt>
                <c:pt idx="59">
                  <c:v>2023-12</c:v>
                </c:pt>
                <c:pt idx="60">
                  <c:v>2024-01</c:v>
                </c:pt>
                <c:pt idx="61">
                  <c:v>2024-02</c:v>
                </c:pt>
                <c:pt idx="62">
                  <c:v>2024-03</c:v>
                </c:pt>
                <c:pt idx="63">
                  <c:v>2024-04</c:v>
                </c:pt>
                <c:pt idx="64">
                  <c:v>2024-05</c:v>
                </c:pt>
                <c:pt idx="65">
                  <c:v>2024-06</c:v>
                </c:pt>
                <c:pt idx="66">
                  <c:v>2024-07</c:v>
                </c:pt>
                <c:pt idx="67">
                  <c:v>2024-08</c:v>
                </c:pt>
                <c:pt idx="68">
                  <c:v>2024-09</c:v>
                </c:pt>
                <c:pt idx="69">
                  <c:v>2024-10</c:v>
                </c:pt>
                <c:pt idx="70">
                  <c:v>2024-11</c:v>
                </c:pt>
                <c:pt idx="71">
                  <c:v>2024-12</c:v>
                </c:pt>
                <c:pt idx="72">
                  <c:v>2025-01</c:v>
                </c:pt>
                <c:pt idx="73">
                  <c:v>2025-02</c:v>
                </c:pt>
                <c:pt idx="74">
                  <c:v>2025-03</c:v>
                </c:pt>
                <c:pt idx="75">
                  <c:v>2025-04</c:v>
                </c:pt>
                <c:pt idx="76">
                  <c:v>2025-05</c:v>
                </c:pt>
                <c:pt idx="77">
                  <c:v>2025-06</c:v>
                </c:pt>
                <c:pt idx="78">
                  <c:v>2025-07</c:v>
                </c:pt>
                <c:pt idx="79">
                  <c:v>2025-08</c:v>
                </c:pt>
                <c:pt idx="80">
                  <c:v>2025-09</c:v>
                </c:pt>
                <c:pt idx="81">
                  <c:v>2025-10</c:v>
                </c:pt>
                <c:pt idx="82">
                  <c:v>2025-11</c:v>
                </c:pt>
                <c:pt idx="83">
                  <c:v>2025-12</c:v>
                </c:pt>
                <c:pt idx="84">
                  <c:v>2026-01</c:v>
                </c:pt>
                <c:pt idx="85">
                  <c:v>2026-02</c:v>
                </c:pt>
                <c:pt idx="86">
                  <c:v>2026-03</c:v>
                </c:pt>
                <c:pt idx="87">
                  <c:v>2026-04</c:v>
                </c:pt>
                <c:pt idx="88">
                  <c:v>2026-05</c:v>
                </c:pt>
                <c:pt idx="89">
                  <c:v>2026-06</c:v>
                </c:pt>
              </c:strCache>
            </c:strRef>
          </c:cat>
          <c:val>
            <c:numRef>
              <c:f>Sheet1!$C$2:$C$91</c:f>
              <c:numCache>
                <c:formatCode>General</c:formatCode>
                <c:ptCount val="90"/>
                <c:pt idx="0">
                  <c:v>10058.436778666326</c:v>
                </c:pt>
                <c:pt idx="1">
                  <c:v>10162.24882086322</c:v>
                </c:pt>
                <c:pt idx="2">
                  <c:v>10159.64851922823</c:v>
                </c:pt>
                <c:pt idx="3">
                  <c:v>10252.439282956822</c:v>
                </c:pt>
                <c:pt idx="4">
                  <c:v>10273.691748242796</c:v>
                </c:pt>
                <c:pt idx="5">
                  <c:v>10340.40948750055</c:v>
                </c:pt>
                <c:pt idx="6">
                  <c:v>10389.6552000032</c:v>
                </c:pt>
                <c:pt idx="7">
                  <c:v>10514.56969008405</c:v>
                </c:pt>
                <c:pt idx="8">
                  <c:v>10576.40686319613</c:v>
                </c:pt>
                <c:pt idx="9">
                  <c:v>10638.374051389961</c:v>
                </c:pt>
                <c:pt idx="10">
                  <c:v>10702.0214344864</c:v>
                </c:pt>
                <c:pt idx="11">
                  <c:v>10736.33541490813</c:v>
                </c:pt>
                <c:pt idx="12">
                  <c:v>10797.292485928368</c:v>
                </c:pt>
                <c:pt idx="13">
                  <c:v>10399.306319533065</c:v>
                </c:pt>
                <c:pt idx="14">
                  <c:v>9504.16248284801</c:v>
                </c:pt>
                <c:pt idx="15">
                  <c:v>9582.181533057836</c:v>
                </c:pt>
                <c:pt idx="16">
                  <c:v>9615.355381224223</c:v>
                </c:pt>
                <c:pt idx="17">
                  <c:v>9666.661332714595</c:v>
                </c:pt>
                <c:pt idx="18">
                  <c:v>9729.458617199596</c:v>
                </c:pt>
                <c:pt idx="19">
                  <c:v>9819.689083933736</c:v>
                </c:pt>
                <c:pt idx="20">
                  <c:v>9930.901984630218</c:v>
                </c:pt>
                <c:pt idx="21">
                  <c:v>10015.711822571418</c:v>
                </c:pt>
                <c:pt idx="22">
                  <c:v>10080.759368086698</c:v>
                </c:pt>
                <c:pt idx="23">
                  <c:v>10171.159854543128</c:v>
                </c:pt>
                <c:pt idx="24">
                  <c:v>10260.19018206112</c:v>
                </c:pt>
                <c:pt idx="25">
                  <c:v>10304.645338859307</c:v>
                </c:pt>
                <c:pt idx="26">
                  <c:v>10351.240743926295</c:v>
                </c:pt>
                <c:pt idx="27">
                  <c:v>10432.650187421743</c:v>
                </c:pt>
                <c:pt idx="28">
                  <c:v>10586.10798852667</c:v>
                </c:pt>
                <c:pt idx="29">
                  <c:v>10679.718847386297</c:v>
                </c:pt>
                <c:pt idx="30">
                  <c:v>10792.341911661753</c:v>
                </c:pt>
                <c:pt idx="31">
                  <c:v>10791.861855975294</c:v>
                </c:pt>
                <c:pt idx="32">
                  <c:v>10797.892555536442</c:v>
                </c:pt>
                <c:pt idx="33">
                  <c:v>10873.721351676795</c:v>
                </c:pt>
                <c:pt idx="34">
                  <c:v>10881.372239179746</c:v>
                </c:pt>
                <c:pt idx="35">
                  <c:v>11035.070068127903</c:v>
                </c:pt>
                <c:pt idx="36">
                  <c:v>11103.357989526785</c:v>
                </c:pt>
                <c:pt idx="37">
                  <c:v>11150.413447959963</c:v>
                </c:pt>
                <c:pt idx="38">
                  <c:v>11208.160146577004</c:v>
                </c:pt>
                <c:pt idx="39">
                  <c:v>11141.592424721268</c:v>
                </c:pt>
                <c:pt idx="40">
                  <c:v>11044.451156334135</c:v>
                </c:pt>
                <c:pt idx="41">
                  <c:v>10980.913785999175</c:v>
                </c:pt>
                <c:pt idx="42">
                  <c:v>10913.485964371866</c:v>
                </c:pt>
                <c:pt idx="43">
                  <c:v>10862.930099891588</c:v>
                </c:pt>
                <c:pt idx="44">
                  <c:v>10800.262830488336</c:v>
                </c:pt>
                <c:pt idx="45">
                  <c:v>10792.121886138792</c:v>
                </c:pt>
                <c:pt idx="46">
                  <c:v>10848.638442059279</c:v>
                </c:pt>
                <c:pt idx="47">
                  <c:v>10906.285129074973</c:v>
                </c:pt>
                <c:pt idx="48">
                  <c:v>10963.561773165688</c:v>
                </c:pt>
                <c:pt idx="49">
                  <c:v>11010.677238559672</c:v>
                </c:pt>
                <c:pt idx="50">
                  <c:v>11081.605466234083</c:v>
                </c:pt>
                <c:pt idx="51">
                  <c:v>11114.639298158587</c:v>
                </c:pt>
                <c:pt idx="52">
                  <c:v>11180.906985210284</c:v>
                </c:pt>
                <c:pt idx="53">
                  <c:v>11256.955806873597</c:v>
                </c:pt>
                <c:pt idx="54">
                  <c:v>11288.289441575223</c:v>
                </c:pt>
                <c:pt idx="55">
                  <c:v>11388.931116009457</c:v>
                </c:pt>
                <c:pt idx="56">
                  <c:v>11420.584787835389</c:v>
                </c:pt>
                <c:pt idx="57">
                  <c:v>11414.414072032356</c:v>
                </c:pt>
                <c:pt idx="58">
                  <c:v>11417.744458357169</c:v>
                </c:pt>
                <c:pt idx="59">
                  <c:v>11516.23588336247</c:v>
                </c:pt>
                <c:pt idx="60">
                  <c:v>11630.349120497978</c:v>
                </c:pt>
                <c:pt idx="61">
                  <c:v>11695.916726340256</c:v>
                </c:pt>
                <c:pt idx="62">
                  <c:v>11790.707722095764</c:v>
                </c:pt>
                <c:pt idx="63">
                  <c:v>11864.326261846374</c:v>
                </c:pt>
                <c:pt idx="64">
                  <c:v>11996.061543139005</c:v>
                </c:pt>
                <c:pt idx="65">
                  <c:v>12011.543339027327</c:v>
                </c:pt>
                <c:pt idx="66">
                  <c:v>12081.151413563974</c:v>
                </c:pt>
                <c:pt idx="67">
                  <c:v>12118.025690980154</c:v>
                </c:pt>
                <c:pt idx="68">
                  <c:v>12203.67562637266</c:v>
                </c:pt>
                <c:pt idx="69">
                  <c:v>12296.726420264751</c:v>
                </c:pt>
                <c:pt idx="70">
                  <c:v>12339.971436686656</c:v>
                </c:pt>
                <c:pt idx="71">
                  <c:v>12385.316696736822</c:v>
                </c:pt>
                <c:pt idx="72">
                  <c:v>12506.520756407743</c:v>
                </c:pt>
                <c:pt idx="73">
                  <c:v>12548.795660296595</c:v>
                </c:pt>
                <c:pt idx="74">
                  <c:v>12648.927275563965</c:v>
                </c:pt>
                <c:pt idx="75">
                  <c:v>12705.63385352701</c:v>
                </c:pt>
                <c:pt idx="76">
                  <c:v>12802.495089430375</c:v>
                </c:pt>
                <c:pt idx="77">
                  <c:v>12850.560665037145</c:v>
                </c:pt>
                <c:pt idx="78">
                  <c:v>12934.280376523677</c:v>
                </c:pt>
                <c:pt idx="79">
                  <c:v>13007.808905833075</c:v>
                </c:pt>
                <c:pt idx="80">
                  <c:v>13171.057842709755</c:v>
                </c:pt>
                <c:pt idx="81">
                  <c:v>13252.597301286949</c:v>
                </c:pt>
                <c:pt idx="82">
                  <c:v>13306.583563693388</c:v>
                </c:pt>
                <c:pt idx="83">
                  <c:v>13396.904040868742</c:v>
                </c:pt>
                <c:pt idx="84">
                  <c:v>13469.472458805221</c:v>
                </c:pt>
                <c:pt idx="85">
                  <c:v>13599.027487188514</c:v>
                </c:pt>
                <c:pt idx="86">
                  <c:v>13690.29807457665</c:v>
                </c:pt>
                <c:pt idx="87">
                  <c:v>13799.540746726621</c:v>
                </c:pt>
                <c:pt idx="88">
                  <c:v>13873.299302719115</c:v>
                </c:pt>
                <c:pt idx="89">
                  <c:v>13875.839597393298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5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500"/>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56616" y="356616"/>
            <a:ext cx="640080" cy="6400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000000"/>
                </a:solidFill>
                <a:latin typeface="Arial"/>
              </a:rPr>
              <a:t>AGEF</a:t>
            </a:r>
          </a:p>
        </p:txBody>
      </p:sp>
      <p:sp>
        <p:nvSpPr>
          <p:cNvPr id="3" name="TextBox 2"/>
          <p:cNvSpPr txBox="1"/>
          <p:nvPr/>
        </p:nvSpPr>
        <p:spPr>
          <a:xfrm>
            <a:off x="1207008" y="429768"/>
            <a:ext cx="5120640" cy="347472"/>
          </a:xfrm>
          <a:prstGeom prst="rect">
            <a:avLst/>
          </a:prstGeom>
          <a:noFill/>
        </p:spPr>
        <p:txBody>
          <a:bodyPr wrap="square" anchor="t" lIns="0" rIns="0" tIns="0" bIns="0">
            <a:spAutoFit/>
          </a:bodyPr>
          <a:lstStyle/>
          <a:p>
            <a:pPr algn="l"/>
            <a:r>
              <a:rPr sz="1500" b="1">
                <a:solidFill>
                  <a:srgbClr val="000000"/>
                </a:solidFill>
                <a:latin typeface="Arial"/>
              </a:rPr>
              <a:t>Alpha Global Equity Fund</a:t>
            </a:r>
          </a:p>
        </p:txBody>
      </p:sp>
      <p:pic>
        <p:nvPicPr>
          <p:cNvPr id="4" name="Picture 3" descr="image.png"/>
          <p:cNvPicPr>
            <a:picLocks noChangeAspect="1"/>
          </p:cNvPicPr>
          <p:nvPr/>
        </p:nvPicPr>
        <p:blipFill>
          <a:blip r:embed="rId2"/>
          <a:stretch>
            <a:fillRect/>
          </a:stretch>
        </p:blipFill>
        <p:spPr>
          <a:xfrm>
            <a:off x="5877488" y="428371"/>
            <a:ext cx="1325880" cy="405130"/>
          </a:xfrm>
          <a:prstGeom prst="rect">
            <a:avLst/>
          </a:prstGeom>
        </p:spPr>
      </p:pic>
      <p:sp>
        <p:nvSpPr>
          <p:cNvPr id="5" name="TextBox 4"/>
          <p:cNvSpPr txBox="1"/>
          <p:nvPr/>
        </p:nvSpPr>
        <p:spPr>
          <a:xfrm>
            <a:off x="356616" y="1161288"/>
            <a:ext cx="3931920" cy="228600"/>
          </a:xfrm>
          <a:prstGeom prst="rect">
            <a:avLst/>
          </a:prstGeom>
          <a:noFill/>
        </p:spPr>
        <p:txBody>
          <a:bodyPr wrap="square" anchor="t" lIns="0" rIns="0" tIns="0" bIns="0">
            <a:spAutoFit/>
          </a:bodyPr>
          <a:lstStyle/>
          <a:p>
            <a:pPr algn="l"/>
            <a:r>
              <a:rPr sz="860" b="1">
                <a:solidFill>
                  <a:srgbClr val="000000"/>
                </a:solidFill>
                <a:latin typeface="Arial"/>
              </a:rPr>
              <a:t>Fact Sheet as of June 30, 2026</a:t>
            </a:r>
          </a:p>
        </p:txBody>
      </p:sp>
      <p:cxnSp>
        <p:nvCxnSpPr>
          <p:cNvPr id="6" name="Connector 5"/>
          <p:cNvCxnSpPr/>
          <p:nvPr/>
        </p:nvCxnSpPr>
        <p:spPr>
          <a:xfrm>
            <a:off x="356616" y="1389888"/>
            <a:ext cx="6846752" cy="0"/>
          </a:xfrm>
          <a:prstGeom prst="line">
            <a:avLst/>
          </a:prstGeom>
          <a:ln w="7620">
            <a:solidFill>
              <a:srgbClr val="4A4A4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84048" y="1517904"/>
            <a:ext cx="4325112" cy="201168"/>
          </a:xfrm>
          <a:prstGeom prst="rect">
            <a:avLst/>
          </a:prstGeom>
          <a:noFill/>
        </p:spPr>
        <p:txBody>
          <a:bodyPr wrap="square" anchor="t" lIns="0" rIns="0" tIns="0" bIns="0">
            <a:spAutoFit/>
          </a:bodyPr>
          <a:lstStyle/>
          <a:p>
            <a:pPr algn="l"/>
            <a:r>
              <a:rPr sz="819" b="1">
                <a:solidFill>
                  <a:srgbClr val="000000"/>
                </a:solidFill>
                <a:latin typeface="Arial"/>
              </a:rPr>
              <a:t>FUND DESCRIPTION</a:t>
            </a:r>
          </a:p>
        </p:txBody>
      </p:sp>
      <p:sp>
        <p:nvSpPr>
          <p:cNvPr id="8" name="TextBox 7"/>
          <p:cNvSpPr txBox="1"/>
          <p:nvPr/>
        </p:nvSpPr>
        <p:spPr>
          <a:xfrm>
            <a:off x="384048" y="1728216"/>
            <a:ext cx="4325112" cy="438912"/>
          </a:xfrm>
          <a:prstGeom prst="rect">
            <a:avLst/>
          </a:prstGeom>
          <a:noFill/>
        </p:spPr>
        <p:txBody>
          <a:bodyPr wrap="square" anchor="t" lIns="0" rIns="0" tIns="0" bIns="0">
            <a:spAutoFit/>
          </a:bodyPr>
          <a:lstStyle/>
          <a:p>
            <a:pPr algn="l"/>
            <a:r>
              <a:rPr sz="650" b="0">
                <a:solidFill>
                  <a:srgbClr val="000000"/>
                </a:solidFill>
                <a:latin typeface="Arial"/>
              </a:rPr>
              <a:t>A diversified global equity strategy seeking long-term capital growth through high-quality companies across developed markets.</a:t>
            </a:r>
          </a:p>
        </p:txBody>
      </p:sp>
      <p:cxnSp>
        <p:nvCxnSpPr>
          <p:cNvPr id="9" name="Connector 8"/>
          <p:cNvCxnSpPr/>
          <p:nvPr/>
        </p:nvCxnSpPr>
        <p:spPr>
          <a:xfrm>
            <a:off x="384048" y="2194560"/>
            <a:ext cx="4325112" cy="0"/>
          </a:xfrm>
          <a:prstGeom prst="line">
            <a:avLst/>
          </a:prstGeom>
          <a:ln w="6985">
            <a:solidFill>
              <a:srgbClr val="4A4A4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84048" y="2286000"/>
            <a:ext cx="4325112" cy="201168"/>
          </a:xfrm>
          <a:prstGeom prst="rect">
            <a:avLst/>
          </a:prstGeom>
          <a:noFill/>
        </p:spPr>
        <p:txBody>
          <a:bodyPr wrap="square" anchor="t" lIns="0" rIns="0" tIns="0" bIns="0">
            <a:spAutoFit/>
          </a:bodyPr>
          <a:lstStyle/>
          <a:p>
            <a:pPr algn="l"/>
            <a:r>
              <a:rPr sz="819" b="1">
                <a:solidFill>
                  <a:srgbClr val="000000"/>
                </a:solidFill>
                <a:latin typeface="Arial"/>
              </a:rPr>
              <a:t>GROWTH OF HYPOTHETICAL 10,000 SINCE INCEPTION</a:t>
            </a:r>
          </a:p>
        </p:txBody>
      </p:sp>
      <p:graphicFrame>
        <p:nvGraphicFramePr>
          <p:cNvPr id="11" name="Chart 10"/>
          <p:cNvGraphicFramePr>
            <a:graphicFrameLocks noGrp="1"/>
          </p:cNvGraphicFramePr>
          <p:nvPr/>
        </p:nvGraphicFramePr>
        <p:xfrm>
          <a:off x="384048" y="2514600"/>
          <a:ext cx="4325112" cy="1965960"/>
        </p:xfrm>
        <a:graphic>
          <a:graphicData uri="http://schemas.openxmlformats.org/drawingml/2006/chart">
            <c:chart xmlns:c="http://schemas.openxmlformats.org/drawingml/2006/chart" r:id="rId3"/>
          </a:graphicData>
        </a:graphic>
      </p:graphicFrame>
      <p:sp>
        <p:nvSpPr>
          <p:cNvPr id="12" name="TextBox 11"/>
          <p:cNvSpPr txBox="1"/>
          <p:nvPr/>
        </p:nvSpPr>
        <p:spPr>
          <a:xfrm>
            <a:off x="384048" y="4507992"/>
            <a:ext cx="4325112" cy="329184"/>
          </a:xfrm>
          <a:prstGeom prst="rect">
            <a:avLst/>
          </a:prstGeom>
          <a:noFill/>
        </p:spPr>
        <p:txBody>
          <a:bodyPr wrap="square" anchor="t" lIns="0" rIns="0" tIns="0" bIns="0">
            <a:spAutoFit/>
          </a:bodyPr>
          <a:lstStyle/>
          <a:p>
            <a:pPr algn="l"/>
            <a:r>
              <a:rPr sz="540" b="0">
                <a:solidFill>
                  <a:srgbClr val="464646"/>
                </a:solidFill>
                <a:latin typeface="Arial"/>
              </a:rPr>
              <a:t>The growth chart reflects a hypothetical initial investment and compares the selected fund series with its benchmark. Demo data is synthetic.</a:t>
            </a:r>
          </a:p>
        </p:txBody>
      </p:sp>
      <p:sp>
        <p:nvSpPr>
          <p:cNvPr id="13" name="TextBox 12"/>
          <p:cNvSpPr txBox="1"/>
          <p:nvPr/>
        </p:nvSpPr>
        <p:spPr>
          <a:xfrm>
            <a:off x="384048" y="4919472"/>
            <a:ext cx="4325112" cy="201168"/>
          </a:xfrm>
          <a:prstGeom prst="rect">
            <a:avLst/>
          </a:prstGeom>
          <a:noFill/>
        </p:spPr>
        <p:txBody>
          <a:bodyPr wrap="square" anchor="t" lIns="0" rIns="0" tIns="0" bIns="0">
            <a:spAutoFit/>
          </a:bodyPr>
          <a:lstStyle/>
          <a:p>
            <a:pPr algn="l"/>
            <a:r>
              <a:rPr sz="819" b="1">
                <a:solidFill>
                  <a:srgbClr val="000000"/>
                </a:solidFill>
                <a:latin typeface="Arial"/>
              </a:rPr>
              <a:t>CALENDAR YEAR PERFORMANCE (%)</a:t>
            </a:r>
          </a:p>
        </p:txBody>
      </p:sp>
      <p:graphicFrame>
        <p:nvGraphicFramePr>
          <p:cNvPr id="14" name="Table 13"/>
          <p:cNvGraphicFramePr>
            <a:graphicFrameLocks noGrp="1"/>
          </p:cNvGraphicFramePr>
          <p:nvPr/>
        </p:nvGraphicFramePr>
        <p:xfrm>
          <a:off x="384048" y="5148072"/>
          <a:ext cx="4325110" cy="704088"/>
        </p:xfrm>
        <a:graphic>
          <a:graphicData uri="http://schemas.openxmlformats.org/drawingml/2006/table">
            <a:tbl>
              <a:tblPr firstRow="1" bandRow="1">
                <a:tableStyleId>{5C22544A-7EE6-4342-B048-85BDC9FD1C3A}</a:tableStyleId>
              </a:tblPr>
              <a:tblGrid>
                <a:gridCol w="994775"/>
                <a:gridCol w="666067"/>
                <a:gridCol w="666067"/>
                <a:gridCol w="666067"/>
                <a:gridCol w="666067"/>
                <a:gridCol w="666067"/>
              </a:tblGrid>
              <a:tr h="234696">
                <a:tc>
                  <a:txBody>
                    <a:bodyPr wrap="square"/>
                    <a:lstStyle/>
                    <a:p>
                      <a:pPr algn="l"/>
                      <a:r>
                        <a:rPr sz="590" b="1">
                          <a:solidFill>
                            <a:srgbClr val="000000"/>
                          </a:solidFill>
                          <a:latin typeface="Arial"/>
                        </a:rPr>
                        <a:t>Series</a:t>
                      </a:r>
                    </a:p>
                  </a:txBody>
                  <a:tcPr marL="25400" marR="25400" marT="15240" marB="15240">
                    <a:solidFill>
                      <a:srgbClr val="FFFFFF"/>
                    </a:solidFill>
                  </a:tcPr>
                </a:tc>
                <a:tc>
                  <a:txBody>
                    <a:bodyPr wrap="square"/>
                    <a:lstStyle/>
                    <a:p>
                      <a:pPr algn="ctr"/>
                      <a:r>
                        <a:rPr sz="590" b="1">
                          <a:solidFill>
                            <a:srgbClr val="000000"/>
                          </a:solidFill>
                          <a:latin typeface="Arial"/>
                        </a:rPr>
                        <a:t>2022</a:t>
                      </a:r>
                    </a:p>
                  </a:txBody>
                  <a:tcPr marL="25400" marR="25400" marT="15240" marB="15240">
                    <a:solidFill>
                      <a:srgbClr val="FFFFFF"/>
                    </a:solidFill>
                  </a:tcPr>
                </a:tc>
                <a:tc>
                  <a:txBody>
                    <a:bodyPr wrap="square"/>
                    <a:lstStyle/>
                    <a:p>
                      <a:pPr algn="ctr"/>
                      <a:r>
                        <a:rPr sz="590" b="1">
                          <a:solidFill>
                            <a:srgbClr val="000000"/>
                          </a:solidFill>
                          <a:latin typeface="Arial"/>
                        </a:rPr>
                        <a:t>2023</a:t>
                      </a:r>
                    </a:p>
                  </a:txBody>
                  <a:tcPr marL="25400" marR="25400" marT="15240" marB="15240">
                    <a:solidFill>
                      <a:srgbClr val="FFFFFF"/>
                    </a:solidFill>
                  </a:tcPr>
                </a:tc>
                <a:tc>
                  <a:txBody>
                    <a:bodyPr wrap="square"/>
                    <a:lstStyle/>
                    <a:p>
                      <a:pPr algn="ctr"/>
                      <a:r>
                        <a:rPr sz="590" b="1">
                          <a:solidFill>
                            <a:srgbClr val="000000"/>
                          </a:solidFill>
                          <a:latin typeface="Arial"/>
                        </a:rPr>
                        <a:t>2024</a:t>
                      </a:r>
                    </a:p>
                  </a:txBody>
                  <a:tcPr marL="25400" marR="25400" marT="15240" marB="15240">
                    <a:solidFill>
                      <a:srgbClr val="FFFFFF"/>
                    </a:solidFill>
                  </a:tcPr>
                </a:tc>
                <a:tc>
                  <a:txBody>
                    <a:bodyPr wrap="square"/>
                    <a:lstStyle/>
                    <a:p>
                      <a:pPr algn="ctr"/>
                      <a:r>
                        <a:rPr sz="590" b="1">
                          <a:solidFill>
                            <a:srgbClr val="000000"/>
                          </a:solidFill>
                          <a:latin typeface="Arial"/>
                        </a:rPr>
                        <a:t>2025</a:t>
                      </a:r>
                    </a:p>
                  </a:txBody>
                  <a:tcPr marL="25400" marR="25400" marT="15240" marB="15240">
                    <a:solidFill>
                      <a:srgbClr val="FFFFFF"/>
                    </a:solidFill>
                  </a:tcPr>
                </a:tc>
                <a:tc>
                  <a:txBody>
                    <a:bodyPr wrap="square"/>
                    <a:lstStyle/>
                    <a:p>
                      <a:pPr algn="ctr"/>
                      <a:r>
                        <a:rPr sz="590" b="1">
                          <a:solidFill>
                            <a:srgbClr val="000000"/>
                          </a:solidFill>
                          <a:latin typeface="Arial"/>
                        </a:rPr>
                        <a:t>2026 YTD</a:t>
                      </a:r>
                    </a:p>
                  </a:txBody>
                  <a:tcPr marL="25400" marR="25400" marT="15240" marB="15240">
                    <a:solidFill>
                      <a:srgbClr val="FFFFFF"/>
                    </a:solidFill>
                  </a:tcPr>
                </a:tc>
              </a:tr>
              <a:tr h="234696">
                <a:tc>
                  <a:txBody>
                    <a:bodyPr wrap="square"/>
                    <a:lstStyle/>
                    <a:p>
                      <a:pPr algn="l"/>
                      <a:r>
                        <a:rPr sz="590" b="1">
                          <a:solidFill>
                            <a:srgbClr val="000000"/>
                          </a:solidFill>
                          <a:latin typeface="Arial"/>
                        </a:rPr>
                        <a:t>Benchmark</a:t>
                      </a:r>
                    </a:p>
                  </a:txBody>
                  <a:tcPr marL="25400" marR="25400" marT="15240" marB="15240">
                    <a:solidFill>
                      <a:srgbClr val="F4F4F4"/>
                    </a:solidFill>
                  </a:tcPr>
                </a:tc>
                <a:tc>
                  <a:txBody>
                    <a:bodyPr wrap="square"/>
                    <a:lstStyle/>
                    <a:p>
                      <a:pPr algn="ctr"/>
                      <a:r>
                        <a:rPr sz="590" b="0">
                          <a:solidFill>
                            <a:srgbClr val="000000"/>
                          </a:solidFill>
                          <a:latin typeface="Arial"/>
                        </a:rPr>
                        <a:t>-1.17%</a:t>
                      </a:r>
                    </a:p>
                  </a:txBody>
                  <a:tcPr marL="25400" marR="25400" marT="15240" marB="15240">
                    <a:solidFill>
                      <a:srgbClr val="FFFFFF"/>
                    </a:solidFill>
                  </a:tcPr>
                </a:tc>
                <a:tc>
                  <a:txBody>
                    <a:bodyPr wrap="square"/>
                    <a:lstStyle/>
                    <a:p>
                      <a:pPr algn="ctr"/>
                      <a:r>
                        <a:rPr sz="590" b="0">
                          <a:solidFill>
                            <a:srgbClr val="000000"/>
                          </a:solidFill>
                          <a:latin typeface="Arial"/>
                        </a:rPr>
                        <a:t>5.59%</a:t>
                      </a:r>
                    </a:p>
                  </a:txBody>
                  <a:tcPr marL="25400" marR="25400" marT="15240" marB="15240">
                    <a:solidFill>
                      <a:srgbClr val="FFFFFF"/>
                    </a:solidFill>
                  </a:tcPr>
                </a:tc>
                <a:tc>
                  <a:txBody>
                    <a:bodyPr wrap="square"/>
                    <a:lstStyle/>
                    <a:p>
                      <a:pPr algn="ctr"/>
                      <a:r>
                        <a:rPr sz="590" b="0">
                          <a:solidFill>
                            <a:srgbClr val="000000"/>
                          </a:solidFill>
                          <a:latin typeface="Arial"/>
                        </a:rPr>
                        <a:t>7.55%</a:t>
                      </a:r>
                    </a:p>
                  </a:txBody>
                  <a:tcPr marL="25400" marR="25400" marT="15240" marB="15240">
                    <a:solidFill>
                      <a:srgbClr val="FFFFFF"/>
                    </a:solidFill>
                  </a:tcPr>
                </a:tc>
                <a:tc>
                  <a:txBody>
                    <a:bodyPr wrap="square"/>
                    <a:lstStyle/>
                    <a:p>
                      <a:pPr algn="ctr"/>
                      <a:r>
                        <a:rPr sz="590" b="0">
                          <a:solidFill>
                            <a:srgbClr val="000000"/>
                          </a:solidFill>
                          <a:latin typeface="Arial"/>
                        </a:rPr>
                        <a:t>8.17%</a:t>
                      </a:r>
                    </a:p>
                  </a:txBody>
                  <a:tcPr marL="25400" marR="25400" marT="15240" marB="15240">
                    <a:solidFill>
                      <a:srgbClr val="FFFFFF"/>
                    </a:solidFill>
                  </a:tcPr>
                </a:tc>
                <a:tc>
                  <a:txBody>
                    <a:bodyPr wrap="square"/>
                    <a:lstStyle/>
                    <a:p>
                      <a:pPr algn="ctr"/>
                      <a:r>
                        <a:rPr sz="590" b="0">
                          <a:solidFill>
                            <a:srgbClr val="000000"/>
                          </a:solidFill>
                          <a:latin typeface="Arial"/>
                        </a:rPr>
                        <a:t>3.57%</a:t>
                      </a:r>
                    </a:p>
                  </a:txBody>
                  <a:tcPr marL="25400" marR="25400" marT="15240" marB="15240">
                    <a:solidFill>
                      <a:srgbClr val="FFFFFF"/>
                    </a:solidFill>
                  </a:tcPr>
                </a:tc>
              </a:tr>
              <a:tr h="234696">
                <a:tc>
                  <a:txBody>
                    <a:bodyPr wrap="square"/>
                    <a:lstStyle/>
                    <a:p>
                      <a:pPr algn="l"/>
                      <a:r>
                        <a:rPr sz="590" b="1">
                          <a:solidFill>
                            <a:srgbClr val="000000"/>
                          </a:solidFill>
                          <a:latin typeface="Arial"/>
                        </a:rPr>
                        <a:t>Fund</a:t>
                      </a:r>
                    </a:p>
                  </a:txBody>
                  <a:tcPr marL="25400" marR="25400" marT="15240" marB="15240">
                    <a:solidFill>
                      <a:srgbClr val="E8E8E8"/>
                    </a:solidFill>
                  </a:tcPr>
                </a:tc>
                <a:tc>
                  <a:txBody>
                    <a:bodyPr wrap="square"/>
                    <a:lstStyle/>
                    <a:p>
                      <a:pPr algn="ctr"/>
                      <a:r>
                        <a:rPr sz="590" b="0">
                          <a:solidFill>
                            <a:srgbClr val="000000"/>
                          </a:solidFill>
                          <a:latin typeface="Arial"/>
                        </a:rPr>
                        <a:t>1.41%</a:t>
                      </a:r>
                    </a:p>
                  </a:txBody>
                  <a:tcPr marL="25400" marR="25400" marT="15240" marB="15240">
                    <a:solidFill>
                      <a:srgbClr val="FFFFFF"/>
                    </a:solidFill>
                  </a:tcPr>
                </a:tc>
                <a:tc>
                  <a:txBody>
                    <a:bodyPr wrap="square"/>
                    <a:lstStyle/>
                    <a:p>
                      <a:pPr algn="ctr"/>
                      <a:r>
                        <a:rPr sz="590" b="0">
                          <a:solidFill>
                            <a:srgbClr val="000000"/>
                          </a:solidFill>
                          <a:latin typeface="Arial"/>
                        </a:rPr>
                        <a:t>6.63%</a:t>
                      </a:r>
                    </a:p>
                  </a:txBody>
                  <a:tcPr marL="25400" marR="25400" marT="15240" marB="15240">
                    <a:solidFill>
                      <a:srgbClr val="FFFFFF"/>
                    </a:solidFill>
                  </a:tcPr>
                </a:tc>
                <a:tc>
                  <a:txBody>
                    <a:bodyPr wrap="square"/>
                    <a:lstStyle/>
                    <a:p>
                      <a:pPr algn="ctr"/>
                      <a:r>
                        <a:rPr sz="590" b="0">
                          <a:solidFill>
                            <a:srgbClr val="000000"/>
                          </a:solidFill>
                          <a:latin typeface="Arial"/>
                        </a:rPr>
                        <a:t>9.79%</a:t>
                      </a:r>
                    </a:p>
                  </a:txBody>
                  <a:tcPr marL="25400" marR="25400" marT="15240" marB="15240">
                    <a:solidFill>
                      <a:srgbClr val="FFFFFF"/>
                    </a:solidFill>
                  </a:tcPr>
                </a:tc>
                <a:tc>
                  <a:txBody>
                    <a:bodyPr wrap="square"/>
                    <a:lstStyle/>
                    <a:p>
                      <a:pPr algn="ctr"/>
                      <a:r>
                        <a:rPr sz="590" b="0">
                          <a:solidFill>
                            <a:srgbClr val="000000"/>
                          </a:solidFill>
                          <a:latin typeface="Arial"/>
                        </a:rPr>
                        <a:t>9.63%</a:t>
                      </a:r>
                    </a:p>
                  </a:txBody>
                  <a:tcPr marL="25400" marR="25400" marT="15240" marB="15240">
                    <a:solidFill>
                      <a:srgbClr val="FFFFFF"/>
                    </a:solidFill>
                  </a:tcPr>
                </a:tc>
                <a:tc>
                  <a:txBody>
                    <a:bodyPr wrap="square"/>
                    <a:lstStyle/>
                    <a:p>
                      <a:pPr algn="ctr"/>
                      <a:r>
                        <a:rPr sz="590" b="0">
                          <a:solidFill>
                            <a:srgbClr val="000000"/>
                          </a:solidFill>
                          <a:latin typeface="Arial"/>
                        </a:rPr>
                        <a:t>3.98%</a:t>
                      </a:r>
                    </a:p>
                  </a:txBody>
                  <a:tcPr marL="25400" marR="25400" marT="15240" marB="15240">
                    <a:solidFill>
                      <a:srgbClr val="FFFFFF"/>
                    </a:solidFill>
                  </a:tcPr>
                </a:tc>
              </a:tr>
            </a:tbl>
          </a:graphicData>
        </a:graphic>
      </p:graphicFrame>
      <p:sp>
        <p:nvSpPr>
          <p:cNvPr id="15" name="TextBox 14"/>
          <p:cNvSpPr txBox="1"/>
          <p:nvPr/>
        </p:nvSpPr>
        <p:spPr>
          <a:xfrm>
            <a:off x="384048" y="5943600"/>
            <a:ext cx="4325112" cy="201168"/>
          </a:xfrm>
          <a:prstGeom prst="rect">
            <a:avLst/>
          </a:prstGeom>
          <a:noFill/>
        </p:spPr>
        <p:txBody>
          <a:bodyPr wrap="square" anchor="t" lIns="0" rIns="0" tIns="0" bIns="0">
            <a:spAutoFit/>
          </a:bodyPr>
          <a:lstStyle/>
          <a:p>
            <a:pPr algn="l"/>
            <a:r>
              <a:rPr sz="819" b="1">
                <a:solidFill>
                  <a:srgbClr val="000000"/>
                </a:solidFill>
                <a:latin typeface="Arial"/>
              </a:rPr>
              <a:t>ANNUALIZED PERFORMANCE (%)</a:t>
            </a:r>
          </a:p>
        </p:txBody>
      </p:sp>
      <p:graphicFrame>
        <p:nvGraphicFramePr>
          <p:cNvPr id="16" name="Table 15"/>
          <p:cNvGraphicFramePr>
            <a:graphicFrameLocks noGrp="1"/>
          </p:cNvGraphicFramePr>
          <p:nvPr/>
        </p:nvGraphicFramePr>
        <p:xfrm>
          <a:off x="384048" y="6172200"/>
          <a:ext cx="4325111" cy="704088"/>
        </p:xfrm>
        <a:graphic>
          <a:graphicData uri="http://schemas.openxmlformats.org/drawingml/2006/table">
            <a:tbl>
              <a:tblPr firstRow="1" bandRow="1">
                <a:tableStyleId>{5C22544A-7EE6-4342-B048-85BDC9FD1C3A}</a:tableStyleId>
              </a:tblPr>
              <a:tblGrid>
                <a:gridCol w="994775"/>
                <a:gridCol w="555056"/>
                <a:gridCol w="555056"/>
                <a:gridCol w="555056"/>
                <a:gridCol w="555056"/>
                <a:gridCol w="555056"/>
                <a:gridCol w="555056"/>
              </a:tblGrid>
              <a:tr h="234696">
                <a:tc>
                  <a:txBody>
                    <a:bodyPr wrap="square"/>
                    <a:lstStyle/>
                    <a:p>
                      <a:pPr algn="l"/>
                      <a:r>
                        <a:rPr sz="590" b="1">
                          <a:solidFill>
                            <a:srgbClr val="000000"/>
                          </a:solidFill>
                          <a:latin typeface="Arial"/>
                        </a:rPr>
                        <a:t>Series</a:t>
                      </a:r>
                    </a:p>
                  </a:txBody>
                  <a:tcPr marL="25400" marR="25400" marT="15240" marB="15240">
                    <a:solidFill>
                      <a:srgbClr val="FFFFFF"/>
                    </a:solidFill>
                  </a:tcPr>
                </a:tc>
                <a:tc>
                  <a:txBody>
                    <a:bodyPr wrap="square"/>
                    <a:lstStyle/>
                    <a:p>
                      <a:pPr algn="ctr"/>
                      <a:r>
                        <a:rPr sz="590" b="1">
                          <a:solidFill>
                            <a:srgbClr val="000000"/>
                          </a:solidFill>
                          <a:latin typeface="Arial"/>
                        </a:rPr>
                        <a:t>YTD</a:t>
                      </a:r>
                    </a:p>
                  </a:txBody>
                  <a:tcPr marL="25400" marR="25400" marT="15240" marB="15240">
                    <a:solidFill>
                      <a:srgbClr val="FFFFFF"/>
                    </a:solidFill>
                  </a:tcPr>
                </a:tc>
                <a:tc>
                  <a:txBody>
                    <a:bodyPr wrap="square"/>
                    <a:lstStyle/>
                    <a:p>
                      <a:pPr algn="ctr"/>
                      <a:r>
                        <a:rPr sz="590" b="1">
                          <a:solidFill>
                            <a:srgbClr val="000000"/>
                          </a:solidFill>
                          <a:latin typeface="Arial"/>
                        </a:rPr>
                        <a:t>1Y</a:t>
                      </a:r>
                    </a:p>
                  </a:txBody>
                  <a:tcPr marL="25400" marR="25400" marT="15240" marB="15240">
                    <a:solidFill>
                      <a:srgbClr val="FFFFFF"/>
                    </a:solidFill>
                  </a:tcPr>
                </a:tc>
                <a:tc>
                  <a:txBody>
                    <a:bodyPr wrap="square"/>
                    <a:lstStyle/>
                    <a:p>
                      <a:pPr algn="ctr"/>
                      <a:r>
                        <a:rPr sz="590" b="1">
                          <a:solidFill>
                            <a:srgbClr val="000000"/>
                          </a:solidFill>
                          <a:latin typeface="Arial"/>
                        </a:rPr>
                        <a:t>3Y</a:t>
                      </a:r>
                    </a:p>
                  </a:txBody>
                  <a:tcPr marL="25400" marR="25400" marT="15240" marB="15240">
                    <a:solidFill>
                      <a:srgbClr val="FFFFFF"/>
                    </a:solidFill>
                  </a:tcPr>
                </a:tc>
                <a:tc>
                  <a:txBody>
                    <a:bodyPr wrap="square"/>
                    <a:lstStyle/>
                    <a:p>
                      <a:pPr algn="ctr"/>
                      <a:r>
                        <a:rPr sz="590" b="1">
                          <a:solidFill>
                            <a:srgbClr val="000000"/>
                          </a:solidFill>
                          <a:latin typeface="Arial"/>
                        </a:rPr>
                        <a:t>5Y</a:t>
                      </a:r>
                    </a:p>
                  </a:txBody>
                  <a:tcPr marL="25400" marR="25400" marT="15240" marB="15240">
                    <a:solidFill>
                      <a:srgbClr val="FFFFFF"/>
                    </a:solidFill>
                  </a:tcPr>
                </a:tc>
                <a:tc>
                  <a:txBody>
                    <a:bodyPr wrap="square"/>
                    <a:lstStyle/>
                    <a:p>
                      <a:pPr algn="ctr"/>
                      <a:r>
                        <a:rPr sz="590" b="1">
                          <a:solidFill>
                            <a:srgbClr val="000000"/>
                          </a:solidFill>
                          <a:latin typeface="Arial"/>
                        </a:rPr>
                        <a:t>10Y</a:t>
                      </a:r>
                    </a:p>
                  </a:txBody>
                  <a:tcPr marL="25400" marR="25400" marT="15240" marB="15240">
                    <a:solidFill>
                      <a:srgbClr val="FFFFFF"/>
                    </a:solidFill>
                  </a:tcPr>
                </a:tc>
                <a:tc>
                  <a:txBody>
                    <a:bodyPr wrap="square"/>
                    <a:lstStyle/>
                    <a:p>
                      <a:pPr algn="ctr"/>
                      <a:r>
                        <a:rPr sz="590" b="1">
                          <a:solidFill>
                            <a:srgbClr val="000000"/>
                          </a:solidFill>
                          <a:latin typeface="Arial"/>
                        </a:rPr>
                        <a:t>Since Inception</a:t>
                      </a:r>
                    </a:p>
                  </a:txBody>
                  <a:tcPr marL="25400" marR="25400" marT="15240" marB="15240">
                    <a:solidFill>
                      <a:srgbClr val="FFFFFF"/>
                    </a:solidFill>
                  </a:tcPr>
                </a:tc>
              </a:tr>
              <a:tr h="234696">
                <a:tc>
                  <a:txBody>
                    <a:bodyPr wrap="square"/>
                    <a:lstStyle/>
                    <a:p>
                      <a:pPr algn="l"/>
                      <a:r>
                        <a:rPr sz="590" b="1">
                          <a:solidFill>
                            <a:srgbClr val="000000"/>
                          </a:solidFill>
                          <a:latin typeface="Arial"/>
                        </a:rPr>
                        <a:t>Fund</a:t>
                      </a:r>
                    </a:p>
                  </a:txBody>
                  <a:tcPr marL="25400" marR="25400" marT="15240" marB="15240">
                    <a:solidFill>
                      <a:srgbClr val="E8E8E8"/>
                    </a:solidFill>
                  </a:tcPr>
                </a:tc>
                <a:tc>
                  <a:txBody>
                    <a:bodyPr wrap="square"/>
                    <a:lstStyle/>
                    <a:p>
                      <a:pPr algn="ctr"/>
                      <a:r>
                        <a:rPr sz="590" b="0">
                          <a:solidFill>
                            <a:srgbClr val="000000"/>
                          </a:solidFill>
                          <a:latin typeface="Arial"/>
                        </a:rPr>
                        <a:t>3.98%</a:t>
                      </a:r>
                    </a:p>
                  </a:txBody>
                  <a:tcPr marL="25400" marR="25400" marT="15240" marB="15240">
                    <a:solidFill>
                      <a:srgbClr val="FFFFFF"/>
                    </a:solidFill>
                  </a:tcPr>
                </a:tc>
                <a:tc>
                  <a:txBody>
                    <a:bodyPr wrap="square"/>
                    <a:lstStyle/>
                    <a:p>
                      <a:pPr algn="ctr"/>
                      <a:r>
                        <a:rPr sz="590" b="0">
                          <a:solidFill>
                            <a:srgbClr val="000000"/>
                          </a:solidFill>
                          <a:latin typeface="Arial"/>
                        </a:rPr>
                        <a:t>9.42%</a:t>
                      </a:r>
                    </a:p>
                  </a:txBody>
                  <a:tcPr marL="25400" marR="25400" marT="15240" marB="15240">
                    <a:solidFill>
                      <a:srgbClr val="FFFFFF"/>
                    </a:solidFill>
                  </a:tcPr>
                </a:tc>
                <a:tc>
                  <a:txBody>
                    <a:bodyPr wrap="square"/>
                    <a:lstStyle/>
                    <a:p>
                      <a:pPr algn="ctr"/>
                      <a:r>
                        <a:rPr sz="590" b="0">
                          <a:solidFill>
                            <a:srgbClr val="000000"/>
                          </a:solidFill>
                          <a:latin typeface="Arial"/>
                        </a:rPr>
                        <a:t>8.69%</a:t>
                      </a:r>
                    </a:p>
                  </a:txBody>
                  <a:tcPr marL="25400" marR="25400" marT="15240" marB="15240">
                    <a:solidFill>
                      <a:srgbClr val="FFFFFF"/>
                    </a:solidFill>
                  </a:tcPr>
                </a:tc>
                <a:tc>
                  <a:txBody>
                    <a:bodyPr wrap="square"/>
                    <a:lstStyle/>
                    <a:p>
                      <a:pPr algn="ctr"/>
                      <a:r>
                        <a:rPr sz="590" b="0">
                          <a:solidFill>
                            <a:srgbClr val="000000"/>
                          </a:solidFill>
                          <a:latin typeface="Arial"/>
                        </a:rPr>
                        <a:t>7.11%</a:t>
                      </a:r>
                    </a:p>
                  </a:txBody>
                  <a:tcPr marL="25400" marR="25400" marT="15240" marB="15240">
                    <a:solidFill>
                      <a:srgbClr val="FFFFFF"/>
                    </a:solidFill>
                  </a:tcPr>
                </a:tc>
                <a:tc>
                  <a:txBody>
                    <a:bodyPr wrap="square"/>
                    <a:lstStyle/>
                    <a:p>
                      <a:pPr algn="ctr"/>
                      <a:r>
                        <a:rPr sz="590" b="0">
                          <a:solidFill>
                            <a:srgbClr val="000000"/>
                          </a:solidFill>
                          <a:latin typeface="Arial"/>
                        </a:rPr>
                        <a:t>-</a:t>
                      </a:r>
                    </a:p>
                  </a:txBody>
                  <a:tcPr marL="25400" marR="25400" marT="15240" marB="15240">
                    <a:solidFill>
                      <a:srgbClr val="FFFFFF"/>
                    </a:solidFill>
                  </a:tcPr>
                </a:tc>
                <a:tc>
                  <a:txBody>
                    <a:bodyPr wrap="square"/>
                    <a:lstStyle/>
                    <a:p>
                      <a:pPr algn="ctr"/>
                      <a:r>
                        <a:rPr sz="590" b="0">
                          <a:solidFill>
                            <a:srgbClr val="000000"/>
                          </a:solidFill>
                          <a:latin typeface="Arial"/>
                        </a:rPr>
                        <a:t>6.27%</a:t>
                      </a:r>
                    </a:p>
                  </a:txBody>
                  <a:tcPr marL="25400" marR="25400" marT="15240" marB="15240">
                    <a:solidFill>
                      <a:srgbClr val="FFFFFF"/>
                    </a:solidFill>
                  </a:tcPr>
                </a:tc>
              </a:tr>
              <a:tr h="234696">
                <a:tc>
                  <a:txBody>
                    <a:bodyPr wrap="square"/>
                    <a:lstStyle/>
                    <a:p>
                      <a:pPr algn="l"/>
                      <a:r>
                        <a:rPr sz="590" b="1">
                          <a:solidFill>
                            <a:srgbClr val="000000"/>
                          </a:solidFill>
                          <a:latin typeface="Arial"/>
                        </a:rPr>
                        <a:t>Benchmark</a:t>
                      </a:r>
                    </a:p>
                  </a:txBody>
                  <a:tcPr marL="25400" marR="25400" marT="15240" marB="15240">
                    <a:solidFill>
                      <a:srgbClr val="F4F4F4"/>
                    </a:solidFill>
                  </a:tcPr>
                </a:tc>
                <a:tc>
                  <a:txBody>
                    <a:bodyPr wrap="square"/>
                    <a:lstStyle/>
                    <a:p>
                      <a:pPr algn="ctr"/>
                      <a:r>
                        <a:rPr sz="590" b="0">
                          <a:solidFill>
                            <a:srgbClr val="000000"/>
                          </a:solidFill>
                          <a:latin typeface="Arial"/>
                        </a:rPr>
                        <a:t>3.57%</a:t>
                      </a:r>
                    </a:p>
                  </a:txBody>
                  <a:tcPr marL="25400" marR="25400" marT="15240" marB="15240">
                    <a:solidFill>
                      <a:srgbClr val="FFFFFF"/>
                    </a:solidFill>
                  </a:tcPr>
                </a:tc>
                <a:tc>
                  <a:txBody>
                    <a:bodyPr wrap="square"/>
                    <a:lstStyle/>
                    <a:p>
                      <a:pPr algn="ctr"/>
                      <a:r>
                        <a:rPr sz="590" b="0">
                          <a:solidFill>
                            <a:srgbClr val="000000"/>
                          </a:solidFill>
                          <a:latin typeface="Arial"/>
                        </a:rPr>
                        <a:t>7.98%</a:t>
                      </a:r>
                    </a:p>
                  </a:txBody>
                  <a:tcPr marL="25400" marR="25400" marT="15240" marB="15240">
                    <a:solidFill>
                      <a:srgbClr val="FFFFFF"/>
                    </a:solidFill>
                  </a:tcPr>
                </a:tc>
                <a:tc>
                  <a:txBody>
                    <a:bodyPr wrap="square"/>
                    <a:lstStyle/>
                    <a:p>
                      <a:pPr algn="ctr"/>
                      <a:r>
                        <a:rPr sz="590" b="0">
                          <a:solidFill>
                            <a:srgbClr val="000000"/>
                          </a:solidFill>
                          <a:latin typeface="Arial"/>
                        </a:rPr>
                        <a:t>7.22%</a:t>
                      </a:r>
                    </a:p>
                  </a:txBody>
                  <a:tcPr marL="25400" marR="25400" marT="15240" marB="15240">
                    <a:solidFill>
                      <a:srgbClr val="FFFFFF"/>
                    </a:solidFill>
                  </a:tcPr>
                </a:tc>
                <a:tc>
                  <a:txBody>
                    <a:bodyPr wrap="square"/>
                    <a:lstStyle/>
                    <a:p>
                      <a:pPr algn="ctr"/>
                      <a:r>
                        <a:rPr sz="590" b="0">
                          <a:solidFill>
                            <a:srgbClr val="000000"/>
                          </a:solidFill>
                          <a:latin typeface="Arial"/>
                        </a:rPr>
                        <a:t>5.38%</a:t>
                      </a:r>
                    </a:p>
                  </a:txBody>
                  <a:tcPr marL="25400" marR="25400" marT="15240" marB="15240">
                    <a:solidFill>
                      <a:srgbClr val="FFFFFF"/>
                    </a:solidFill>
                  </a:tcPr>
                </a:tc>
                <a:tc>
                  <a:txBody>
                    <a:bodyPr wrap="square"/>
                    <a:lstStyle/>
                    <a:p>
                      <a:pPr algn="ctr"/>
                      <a:r>
                        <a:rPr sz="590" b="0">
                          <a:solidFill>
                            <a:srgbClr val="000000"/>
                          </a:solidFill>
                          <a:latin typeface="Arial"/>
                        </a:rPr>
                        <a:t>-</a:t>
                      </a:r>
                    </a:p>
                  </a:txBody>
                  <a:tcPr marL="25400" marR="25400" marT="15240" marB="15240">
                    <a:solidFill>
                      <a:srgbClr val="FFFFFF"/>
                    </a:solidFill>
                  </a:tcPr>
                </a:tc>
                <a:tc>
                  <a:txBody>
                    <a:bodyPr wrap="square"/>
                    <a:lstStyle/>
                    <a:p>
                      <a:pPr algn="ctr"/>
                      <a:r>
                        <a:rPr sz="590" b="0">
                          <a:solidFill>
                            <a:srgbClr val="000000"/>
                          </a:solidFill>
                          <a:latin typeface="Arial"/>
                        </a:rPr>
                        <a:t>4.47%</a:t>
                      </a:r>
                    </a:p>
                  </a:txBody>
                  <a:tcPr marL="25400" marR="25400" marT="15240" marB="15240">
                    <a:solidFill>
                      <a:srgbClr val="FFFFFF"/>
                    </a:solidFill>
                  </a:tcPr>
                </a:tc>
              </a:tr>
            </a:tbl>
          </a:graphicData>
        </a:graphic>
      </p:graphicFrame>
      <p:graphicFrame>
        <p:nvGraphicFramePr>
          <p:cNvPr id="17" name="Table 16"/>
          <p:cNvGraphicFramePr>
            <a:graphicFrameLocks noGrp="1"/>
          </p:cNvGraphicFramePr>
          <p:nvPr/>
        </p:nvGraphicFramePr>
        <p:xfrm>
          <a:off x="384048" y="6967728"/>
          <a:ext cx="4325111" cy="329184"/>
        </p:xfrm>
        <a:graphic>
          <a:graphicData uri="http://schemas.openxmlformats.org/drawingml/2006/table">
            <a:tbl>
              <a:tblPr firstRow="1" bandRow="1">
                <a:tableStyleId>{5C22544A-7EE6-4342-B048-85BDC9FD1C3A}</a:tableStyleId>
              </a:tblPr>
              <a:tblGrid>
                <a:gridCol w="1371600"/>
                <a:gridCol w="1874519"/>
                <a:gridCol w="1078992"/>
              </a:tblGrid>
              <a:tr h="329184">
                <a:tc>
                  <a:txBody>
                    <a:bodyPr wrap="square"/>
                    <a:lstStyle/>
                    <a:p>
                      <a:pPr algn="l"/>
                      <a:r>
                        <a:rPr sz="580" b="1">
                          <a:solidFill>
                            <a:srgbClr val="000000"/>
                          </a:solidFill>
                          <a:latin typeface="Arial"/>
                        </a:rPr>
                        <a:t>Net Performance</a:t>
                      </a:r>
                    </a:p>
                  </a:txBody>
                  <a:tcPr marL="25400" marR="25400" marT="15240" marB="15240">
                    <a:solidFill>
                      <a:srgbClr val="E8E8E8"/>
                    </a:solidFill>
                  </a:tcPr>
                </a:tc>
                <a:tc>
                  <a:txBody>
                    <a:bodyPr wrap="square"/>
                    <a:lstStyle/>
                    <a:p>
                      <a:pPr algn="l"/>
                      <a:r>
                        <a:rPr sz="580" b="0">
                          <a:solidFill>
                            <a:srgbClr val="000000"/>
                          </a:solidFill>
                          <a:latin typeface="Arial"/>
                        </a:rPr>
                        <a:t>Jan 2019 - Jun 2026</a:t>
                      </a:r>
                    </a:p>
                  </a:txBody>
                  <a:tcPr marL="25400" marR="25400" marT="15240" marB="15240">
                    <a:solidFill>
                      <a:srgbClr val="FFFFFF"/>
                    </a:solidFill>
                  </a:tcPr>
                </a:tc>
                <a:tc>
                  <a:txBody>
                    <a:bodyPr wrap="square"/>
                    <a:lstStyle/>
                    <a:p>
                      <a:pPr algn="ctr"/>
                      <a:r>
                        <a:rPr sz="580" b="0">
                          <a:solidFill>
                            <a:srgbClr val="000000"/>
                          </a:solidFill>
                          <a:latin typeface="Arial"/>
                        </a:rPr>
                        <a:t>57.65%</a:t>
                      </a:r>
                    </a:p>
                  </a:txBody>
                  <a:tcPr marL="25400" marR="25400" marT="15240" marB="15240">
                    <a:solidFill>
                      <a:srgbClr val="FFFFFF"/>
                    </a:solidFill>
                  </a:tcPr>
                </a:tc>
              </a:tr>
            </a:tbl>
          </a:graphicData>
        </a:graphic>
      </p:graphicFrame>
      <p:sp>
        <p:nvSpPr>
          <p:cNvPr id="18" name="TextBox 17"/>
          <p:cNvSpPr txBox="1"/>
          <p:nvPr/>
        </p:nvSpPr>
        <p:spPr>
          <a:xfrm>
            <a:off x="384048" y="7406640"/>
            <a:ext cx="4325112" cy="502920"/>
          </a:xfrm>
          <a:prstGeom prst="rect">
            <a:avLst/>
          </a:prstGeom>
          <a:noFill/>
        </p:spPr>
        <p:txBody>
          <a:bodyPr wrap="square" anchor="t" lIns="0" rIns="0" tIns="0" bIns="0">
            <a:spAutoFit/>
          </a:bodyPr>
          <a:lstStyle/>
          <a:p>
            <a:pPr algn="l"/>
            <a:r>
              <a:rPr sz="540" b="0">
                <a:solidFill>
                  <a:srgbClr val="464646"/>
                </a:solidFill>
                <a:latin typeface="Arial"/>
              </a:rPr>
              <a:t>Past performance does not guarantee future results. Investment return and principal value may fluctuate. Performance shown in this demonstration is calculated from synthetic data and should not be used for investment decisions.</a:t>
            </a:r>
          </a:p>
        </p:txBody>
      </p:sp>
      <p:cxnSp>
        <p:nvCxnSpPr>
          <p:cNvPr id="19" name="Connector 18"/>
          <p:cNvCxnSpPr/>
          <p:nvPr/>
        </p:nvCxnSpPr>
        <p:spPr>
          <a:xfrm>
            <a:off x="384048" y="7936992"/>
            <a:ext cx="4325112" cy="0"/>
          </a:xfrm>
          <a:prstGeom prst="line">
            <a:avLst/>
          </a:prstGeom>
          <a:ln w="6985">
            <a:solidFill>
              <a:srgbClr val="4A4A4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18888" y="1517904"/>
            <a:ext cx="2340864" cy="201168"/>
          </a:xfrm>
          <a:prstGeom prst="rect">
            <a:avLst/>
          </a:prstGeom>
          <a:noFill/>
        </p:spPr>
        <p:txBody>
          <a:bodyPr wrap="square" anchor="t" lIns="0" rIns="0" tIns="0" bIns="0">
            <a:spAutoFit/>
          </a:bodyPr>
          <a:lstStyle/>
          <a:p>
            <a:pPr algn="l"/>
            <a:r>
              <a:rPr sz="819" b="1">
                <a:solidFill>
                  <a:srgbClr val="000000"/>
                </a:solidFill>
                <a:latin typeface="Arial"/>
              </a:rPr>
              <a:t>KEY FACTS</a:t>
            </a:r>
          </a:p>
        </p:txBody>
      </p:sp>
      <p:sp>
        <p:nvSpPr>
          <p:cNvPr id="21" name="TextBox 20"/>
          <p:cNvSpPr txBox="1"/>
          <p:nvPr/>
        </p:nvSpPr>
        <p:spPr>
          <a:xfrm>
            <a:off x="4818888" y="1764792"/>
            <a:ext cx="1357701" cy="283464"/>
          </a:xfrm>
          <a:prstGeom prst="rect">
            <a:avLst/>
          </a:prstGeom>
          <a:noFill/>
        </p:spPr>
        <p:txBody>
          <a:bodyPr wrap="square" anchor="t" lIns="0" rIns="0" tIns="0" bIns="0">
            <a:spAutoFit/>
          </a:bodyPr>
          <a:lstStyle/>
          <a:p>
            <a:pPr algn="l"/>
            <a:r>
              <a:rPr sz="640" b="1">
                <a:solidFill>
                  <a:srgbClr val="000000"/>
                </a:solidFill>
                <a:latin typeface="Arial"/>
              </a:rPr>
              <a:t>Asset Class :</a:t>
            </a:r>
          </a:p>
        </p:txBody>
      </p:sp>
      <p:sp>
        <p:nvSpPr>
          <p:cNvPr id="22" name="TextBox 21"/>
          <p:cNvSpPr txBox="1"/>
          <p:nvPr/>
        </p:nvSpPr>
        <p:spPr>
          <a:xfrm>
            <a:off x="6176589" y="1764792"/>
            <a:ext cx="983162" cy="283464"/>
          </a:xfrm>
          <a:prstGeom prst="rect">
            <a:avLst/>
          </a:prstGeom>
          <a:noFill/>
        </p:spPr>
        <p:txBody>
          <a:bodyPr wrap="square" anchor="t" lIns="0" rIns="0" tIns="0" bIns="0">
            <a:spAutoFit/>
          </a:bodyPr>
          <a:lstStyle/>
          <a:p>
            <a:pPr algn="l"/>
            <a:r>
              <a:rPr sz="640" b="0">
                <a:solidFill>
                  <a:srgbClr val="000000"/>
                </a:solidFill>
                <a:latin typeface="Arial"/>
              </a:rPr>
              <a:t>Global Equity</a:t>
            </a:r>
          </a:p>
        </p:txBody>
      </p:sp>
      <p:sp>
        <p:nvSpPr>
          <p:cNvPr id="23" name="TextBox 22"/>
          <p:cNvSpPr txBox="1"/>
          <p:nvPr/>
        </p:nvSpPr>
        <p:spPr>
          <a:xfrm>
            <a:off x="4818888" y="2048256"/>
            <a:ext cx="1357701" cy="283464"/>
          </a:xfrm>
          <a:prstGeom prst="rect">
            <a:avLst/>
          </a:prstGeom>
          <a:noFill/>
        </p:spPr>
        <p:txBody>
          <a:bodyPr wrap="square" anchor="t" lIns="0" rIns="0" tIns="0" bIns="0">
            <a:spAutoFit/>
          </a:bodyPr>
          <a:lstStyle/>
          <a:p>
            <a:pPr algn="l"/>
            <a:r>
              <a:rPr sz="640" b="1">
                <a:solidFill>
                  <a:srgbClr val="000000"/>
                </a:solidFill>
                <a:latin typeface="Arial"/>
              </a:rPr>
              <a:t>Benchmark :</a:t>
            </a:r>
          </a:p>
        </p:txBody>
      </p:sp>
      <p:sp>
        <p:nvSpPr>
          <p:cNvPr id="24" name="TextBox 23"/>
          <p:cNvSpPr txBox="1"/>
          <p:nvPr/>
        </p:nvSpPr>
        <p:spPr>
          <a:xfrm>
            <a:off x="6176589" y="2048256"/>
            <a:ext cx="983162" cy="283464"/>
          </a:xfrm>
          <a:prstGeom prst="rect">
            <a:avLst/>
          </a:prstGeom>
          <a:noFill/>
        </p:spPr>
        <p:txBody>
          <a:bodyPr wrap="square" anchor="t" lIns="0" rIns="0" tIns="0" bIns="0">
            <a:spAutoFit/>
          </a:bodyPr>
          <a:lstStyle/>
          <a:p>
            <a:pPr algn="l"/>
            <a:r>
              <a:rPr sz="640" b="0">
                <a:solidFill>
                  <a:srgbClr val="000000"/>
                </a:solidFill>
                <a:latin typeface="Arial"/>
              </a:rPr>
              <a:t>Global Equity Benchmark (Demo)</a:t>
            </a:r>
          </a:p>
        </p:txBody>
      </p:sp>
      <p:sp>
        <p:nvSpPr>
          <p:cNvPr id="25" name="TextBox 24"/>
          <p:cNvSpPr txBox="1"/>
          <p:nvPr/>
        </p:nvSpPr>
        <p:spPr>
          <a:xfrm>
            <a:off x="4818888" y="2331720"/>
            <a:ext cx="1357701" cy="283464"/>
          </a:xfrm>
          <a:prstGeom prst="rect">
            <a:avLst/>
          </a:prstGeom>
          <a:noFill/>
        </p:spPr>
        <p:txBody>
          <a:bodyPr wrap="square" anchor="t" lIns="0" rIns="0" tIns="0" bIns="0">
            <a:spAutoFit/>
          </a:bodyPr>
          <a:lstStyle/>
          <a:p>
            <a:pPr algn="l"/>
            <a:r>
              <a:rPr sz="640" b="1">
                <a:solidFill>
                  <a:srgbClr val="000000"/>
                </a:solidFill>
                <a:latin typeface="Arial"/>
              </a:rPr>
              <a:t>Fund Launch Date :</a:t>
            </a:r>
          </a:p>
        </p:txBody>
      </p:sp>
      <p:sp>
        <p:nvSpPr>
          <p:cNvPr id="26" name="TextBox 25"/>
          <p:cNvSpPr txBox="1"/>
          <p:nvPr/>
        </p:nvSpPr>
        <p:spPr>
          <a:xfrm>
            <a:off x="6176589" y="2331720"/>
            <a:ext cx="983162" cy="283464"/>
          </a:xfrm>
          <a:prstGeom prst="rect">
            <a:avLst/>
          </a:prstGeom>
          <a:noFill/>
        </p:spPr>
        <p:txBody>
          <a:bodyPr wrap="square" anchor="t" lIns="0" rIns="0" tIns="0" bIns="0">
            <a:spAutoFit/>
          </a:bodyPr>
          <a:lstStyle/>
          <a:p>
            <a:pPr algn="l"/>
            <a:r>
              <a:rPr sz="640" b="0">
                <a:solidFill>
                  <a:srgbClr val="000000"/>
                </a:solidFill>
                <a:latin typeface="Arial"/>
              </a:rPr>
              <a:t>01/02/2019</a:t>
            </a:r>
          </a:p>
        </p:txBody>
      </p:sp>
      <p:sp>
        <p:nvSpPr>
          <p:cNvPr id="27" name="TextBox 26"/>
          <p:cNvSpPr txBox="1"/>
          <p:nvPr/>
        </p:nvSpPr>
        <p:spPr>
          <a:xfrm>
            <a:off x="4818888" y="2615184"/>
            <a:ext cx="1357701" cy="283464"/>
          </a:xfrm>
          <a:prstGeom prst="rect">
            <a:avLst/>
          </a:prstGeom>
          <a:noFill/>
        </p:spPr>
        <p:txBody>
          <a:bodyPr wrap="square" anchor="t" lIns="0" rIns="0" tIns="0" bIns="0">
            <a:spAutoFit/>
          </a:bodyPr>
          <a:lstStyle/>
          <a:p>
            <a:pPr algn="l"/>
            <a:r>
              <a:rPr sz="640" b="1">
                <a:solidFill>
                  <a:srgbClr val="000000"/>
                </a:solidFill>
                <a:latin typeface="Arial"/>
              </a:rPr>
              <a:t>Currency :</a:t>
            </a:r>
          </a:p>
        </p:txBody>
      </p:sp>
      <p:sp>
        <p:nvSpPr>
          <p:cNvPr id="28" name="TextBox 27"/>
          <p:cNvSpPr txBox="1"/>
          <p:nvPr/>
        </p:nvSpPr>
        <p:spPr>
          <a:xfrm>
            <a:off x="6176589" y="2615184"/>
            <a:ext cx="983162" cy="283464"/>
          </a:xfrm>
          <a:prstGeom prst="rect">
            <a:avLst/>
          </a:prstGeom>
          <a:noFill/>
        </p:spPr>
        <p:txBody>
          <a:bodyPr wrap="square" anchor="t" lIns="0" rIns="0" tIns="0" bIns="0">
            <a:spAutoFit/>
          </a:bodyPr>
          <a:lstStyle/>
          <a:p>
            <a:pPr algn="l"/>
            <a:r>
              <a:rPr sz="640" b="0">
                <a:solidFill>
                  <a:srgbClr val="000000"/>
                </a:solidFill>
                <a:latin typeface="Arial"/>
              </a:rPr>
              <a:t>EUR</a:t>
            </a:r>
          </a:p>
        </p:txBody>
      </p:sp>
      <p:sp>
        <p:nvSpPr>
          <p:cNvPr id="29" name="TextBox 28"/>
          <p:cNvSpPr txBox="1"/>
          <p:nvPr/>
        </p:nvSpPr>
        <p:spPr>
          <a:xfrm>
            <a:off x="4818888" y="2898648"/>
            <a:ext cx="1357701" cy="283464"/>
          </a:xfrm>
          <a:prstGeom prst="rect">
            <a:avLst/>
          </a:prstGeom>
          <a:noFill/>
        </p:spPr>
        <p:txBody>
          <a:bodyPr wrap="square" anchor="t" lIns="0" rIns="0" tIns="0" bIns="0">
            <a:spAutoFit/>
          </a:bodyPr>
          <a:lstStyle/>
          <a:p>
            <a:pPr algn="l"/>
            <a:r>
              <a:rPr sz="640" b="1">
                <a:solidFill>
                  <a:srgbClr val="000000"/>
                </a:solidFill>
                <a:latin typeface="Arial"/>
              </a:rPr>
              <a:t>Ticker :</a:t>
            </a:r>
          </a:p>
        </p:txBody>
      </p:sp>
      <p:sp>
        <p:nvSpPr>
          <p:cNvPr id="30" name="TextBox 29"/>
          <p:cNvSpPr txBox="1"/>
          <p:nvPr/>
        </p:nvSpPr>
        <p:spPr>
          <a:xfrm>
            <a:off x="6176589" y="2898648"/>
            <a:ext cx="983162" cy="283464"/>
          </a:xfrm>
          <a:prstGeom prst="rect">
            <a:avLst/>
          </a:prstGeom>
          <a:noFill/>
        </p:spPr>
        <p:txBody>
          <a:bodyPr wrap="square" anchor="t" lIns="0" rIns="0" tIns="0" bIns="0">
            <a:spAutoFit/>
          </a:bodyPr>
          <a:lstStyle/>
          <a:p>
            <a:pPr algn="l"/>
            <a:r>
              <a:rPr sz="640" b="0">
                <a:solidFill>
                  <a:srgbClr val="000000"/>
                </a:solidFill>
                <a:latin typeface="Arial"/>
              </a:rPr>
              <a:t>AGEF</a:t>
            </a:r>
          </a:p>
        </p:txBody>
      </p:sp>
      <p:sp>
        <p:nvSpPr>
          <p:cNvPr id="31" name="TextBox 30"/>
          <p:cNvSpPr txBox="1"/>
          <p:nvPr/>
        </p:nvSpPr>
        <p:spPr>
          <a:xfrm>
            <a:off x="4818888" y="3182112"/>
            <a:ext cx="1357701" cy="283464"/>
          </a:xfrm>
          <a:prstGeom prst="rect">
            <a:avLst/>
          </a:prstGeom>
          <a:noFill/>
        </p:spPr>
        <p:txBody>
          <a:bodyPr wrap="square" anchor="t" lIns="0" rIns="0" tIns="0" bIns="0">
            <a:spAutoFit/>
          </a:bodyPr>
          <a:lstStyle/>
          <a:p>
            <a:pPr algn="l"/>
            <a:r>
              <a:rPr sz="640" b="1">
                <a:solidFill>
                  <a:srgbClr val="000000"/>
                </a:solidFill>
                <a:latin typeface="Arial"/>
              </a:rPr>
              <a:t>Net Assets of Fund :</a:t>
            </a:r>
          </a:p>
        </p:txBody>
      </p:sp>
      <p:sp>
        <p:nvSpPr>
          <p:cNvPr id="32" name="TextBox 31"/>
          <p:cNvSpPr txBox="1"/>
          <p:nvPr/>
        </p:nvSpPr>
        <p:spPr>
          <a:xfrm>
            <a:off x="6176589" y="3182112"/>
            <a:ext cx="983162" cy="283464"/>
          </a:xfrm>
          <a:prstGeom prst="rect">
            <a:avLst/>
          </a:prstGeom>
          <a:noFill/>
        </p:spPr>
        <p:txBody>
          <a:bodyPr wrap="square" anchor="t" lIns="0" rIns="0" tIns="0" bIns="0">
            <a:spAutoFit/>
          </a:bodyPr>
          <a:lstStyle/>
          <a:p>
            <a:pPr algn="l"/>
            <a:r>
              <a:rPr sz="640" b="0">
                <a:solidFill>
                  <a:srgbClr val="000000"/>
                </a:solidFill>
                <a:latin typeface="Arial"/>
              </a:rPr>
              <a:t>EUR 544.98m</a:t>
            </a:r>
          </a:p>
        </p:txBody>
      </p:sp>
      <p:cxnSp>
        <p:nvCxnSpPr>
          <p:cNvPr id="33" name="Connector 32"/>
          <p:cNvCxnSpPr/>
          <p:nvPr/>
        </p:nvCxnSpPr>
        <p:spPr>
          <a:xfrm>
            <a:off x="4818888" y="3493008"/>
            <a:ext cx="2340864" cy="0"/>
          </a:xfrm>
          <a:prstGeom prst="line">
            <a:avLst/>
          </a:prstGeom>
          <a:ln w="6985">
            <a:solidFill>
              <a:srgbClr val="4A4A4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818888" y="3593592"/>
            <a:ext cx="2340864" cy="201168"/>
          </a:xfrm>
          <a:prstGeom prst="rect">
            <a:avLst/>
          </a:prstGeom>
          <a:noFill/>
        </p:spPr>
        <p:txBody>
          <a:bodyPr wrap="square" anchor="t" lIns="0" rIns="0" tIns="0" bIns="0">
            <a:spAutoFit/>
          </a:bodyPr>
          <a:lstStyle/>
          <a:p>
            <a:pPr algn="l"/>
            <a:r>
              <a:rPr sz="819" b="1">
                <a:solidFill>
                  <a:srgbClr val="000000"/>
                </a:solidFill>
                <a:latin typeface="Arial"/>
              </a:rPr>
              <a:t>FEES AND EXPENSES BREAKDOWN</a:t>
            </a:r>
          </a:p>
        </p:txBody>
      </p:sp>
      <p:sp>
        <p:nvSpPr>
          <p:cNvPr id="35" name="TextBox 34"/>
          <p:cNvSpPr txBox="1"/>
          <p:nvPr/>
        </p:nvSpPr>
        <p:spPr>
          <a:xfrm>
            <a:off x="4818888" y="3831336"/>
            <a:ext cx="1357701" cy="219456"/>
          </a:xfrm>
          <a:prstGeom prst="rect">
            <a:avLst/>
          </a:prstGeom>
          <a:noFill/>
        </p:spPr>
        <p:txBody>
          <a:bodyPr wrap="square" anchor="t" lIns="0" rIns="0" tIns="0" bIns="0">
            <a:spAutoFit/>
          </a:bodyPr>
          <a:lstStyle/>
          <a:p>
            <a:pPr algn="l"/>
            <a:r>
              <a:rPr sz="640" b="1">
                <a:solidFill>
                  <a:srgbClr val="000000"/>
                </a:solidFill>
                <a:latin typeface="Arial"/>
              </a:rPr>
              <a:t>Management Fee</a:t>
            </a:r>
          </a:p>
        </p:txBody>
      </p:sp>
      <p:sp>
        <p:nvSpPr>
          <p:cNvPr id="36" name="TextBox 35"/>
          <p:cNvSpPr txBox="1"/>
          <p:nvPr/>
        </p:nvSpPr>
        <p:spPr>
          <a:xfrm>
            <a:off x="6176589" y="3831336"/>
            <a:ext cx="983162" cy="219456"/>
          </a:xfrm>
          <a:prstGeom prst="rect">
            <a:avLst/>
          </a:prstGeom>
          <a:noFill/>
        </p:spPr>
        <p:txBody>
          <a:bodyPr wrap="square" anchor="t" lIns="0" rIns="0" tIns="0" bIns="0">
            <a:spAutoFit/>
          </a:bodyPr>
          <a:lstStyle/>
          <a:p>
            <a:pPr algn="l"/>
            <a:r>
              <a:rPr sz="640" b="0">
                <a:solidFill>
                  <a:srgbClr val="000000"/>
                </a:solidFill>
                <a:latin typeface="Arial"/>
              </a:rPr>
              <a:t>0.75%</a:t>
            </a:r>
          </a:p>
        </p:txBody>
      </p:sp>
      <p:cxnSp>
        <p:nvCxnSpPr>
          <p:cNvPr id="37" name="Connector 36"/>
          <p:cNvCxnSpPr/>
          <p:nvPr/>
        </p:nvCxnSpPr>
        <p:spPr>
          <a:xfrm>
            <a:off x="4818888" y="4087368"/>
            <a:ext cx="2340864" cy="0"/>
          </a:xfrm>
          <a:prstGeom prst="line">
            <a:avLst/>
          </a:prstGeom>
          <a:ln w="6985">
            <a:solidFill>
              <a:srgbClr val="4A4A4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18888" y="4187952"/>
            <a:ext cx="2340864" cy="201168"/>
          </a:xfrm>
          <a:prstGeom prst="rect">
            <a:avLst/>
          </a:prstGeom>
          <a:noFill/>
        </p:spPr>
        <p:txBody>
          <a:bodyPr wrap="square" anchor="t" lIns="0" rIns="0" tIns="0" bIns="0">
            <a:spAutoFit/>
          </a:bodyPr>
          <a:lstStyle/>
          <a:p>
            <a:pPr algn="l"/>
            <a:r>
              <a:rPr sz="819" b="1">
                <a:solidFill>
                  <a:srgbClr val="000000"/>
                </a:solidFill>
                <a:latin typeface="Arial"/>
              </a:rPr>
              <a:t>FUND CHARACTERISTICS</a:t>
            </a:r>
          </a:p>
        </p:txBody>
      </p:sp>
      <p:sp>
        <p:nvSpPr>
          <p:cNvPr id="39" name="TextBox 38"/>
          <p:cNvSpPr txBox="1"/>
          <p:nvPr/>
        </p:nvSpPr>
        <p:spPr>
          <a:xfrm>
            <a:off x="4818888" y="4443984"/>
            <a:ext cx="1357701" cy="265176"/>
          </a:xfrm>
          <a:prstGeom prst="rect">
            <a:avLst/>
          </a:prstGeom>
          <a:noFill/>
        </p:spPr>
        <p:txBody>
          <a:bodyPr wrap="square" anchor="t" lIns="0" rIns="0" tIns="0" bIns="0">
            <a:spAutoFit/>
          </a:bodyPr>
          <a:lstStyle/>
          <a:p>
            <a:pPr algn="l"/>
            <a:r>
              <a:rPr sz="640" b="1">
                <a:solidFill>
                  <a:srgbClr val="000000"/>
                </a:solidFill>
                <a:latin typeface="Arial"/>
              </a:rPr>
              <a:t>Annualized Volatility (3y) :</a:t>
            </a:r>
          </a:p>
        </p:txBody>
      </p:sp>
      <p:sp>
        <p:nvSpPr>
          <p:cNvPr id="40" name="TextBox 39"/>
          <p:cNvSpPr txBox="1"/>
          <p:nvPr/>
        </p:nvSpPr>
        <p:spPr>
          <a:xfrm>
            <a:off x="6176589" y="4443984"/>
            <a:ext cx="983162" cy="265176"/>
          </a:xfrm>
          <a:prstGeom prst="rect">
            <a:avLst/>
          </a:prstGeom>
          <a:noFill/>
        </p:spPr>
        <p:txBody>
          <a:bodyPr wrap="square" anchor="t" lIns="0" rIns="0" tIns="0" bIns="0">
            <a:spAutoFit/>
          </a:bodyPr>
          <a:lstStyle/>
          <a:p>
            <a:pPr algn="l"/>
            <a:r>
              <a:rPr sz="640" b="0">
                <a:solidFill>
                  <a:srgbClr val="000000"/>
                </a:solidFill>
                <a:latin typeface="Arial"/>
              </a:rPr>
              <a:t>1.05%</a:t>
            </a:r>
          </a:p>
        </p:txBody>
      </p:sp>
      <p:sp>
        <p:nvSpPr>
          <p:cNvPr id="41" name="TextBox 40"/>
          <p:cNvSpPr txBox="1"/>
          <p:nvPr/>
        </p:nvSpPr>
        <p:spPr>
          <a:xfrm>
            <a:off x="4818888" y="4709160"/>
            <a:ext cx="1357701" cy="265176"/>
          </a:xfrm>
          <a:prstGeom prst="rect">
            <a:avLst/>
          </a:prstGeom>
          <a:noFill/>
        </p:spPr>
        <p:txBody>
          <a:bodyPr wrap="square" anchor="t" lIns="0" rIns="0" tIns="0" bIns="0">
            <a:spAutoFit/>
          </a:bodyPr>
          <a:lstStyle/>
          <a:p>
            <a:pPr algn="l"/>
            <a:r>
              <a:rPr sz="640" b="1">
                <a:solidFill>
                  <a:srgbClr val="000000"/>
                </a:solidFill>
                <a:latin typeface="Arial"/>
              </a:rPr>
              <a:t>Sharpe Ratio (3y) :</a:t>
            </a:r>
          </a:p>
        </p:txBody>
      </p:sp>
      <p:sp>
        <p:nvSpPr>
          <p:cNvPr id="42" name="TextBox 41"/>
          <p:cNvSpPr txBox="1"/>
          <p:nvPr/>
        </p:nvSpPr>
        <p:spPr>
          <a:xfrm>
            <a:off x="6176589" y="4709160"/>
            <a:ext cx="983162" cy="265176"/>
          </a:xfrm>
          <a:prstGeom prst="rect">
            <a:avLst/>
          </a:prstGeom>
          <a:noFill/>
        </p:spPr>
        <p:txBody>
          <a:bodyPr wrap="square" anchor="t" lIns="0" rIns="0" tIns="0" bIns="0">
            <a:spAutoFit/>
          </a:bodyPr>
          <a:lstStyle/>
          <a:p>
            <a:pPr algn="l"/>
            <a:r>
              <a:rPr sz="640" b="0">
                <a:solidFill>
                  <a:srgbClr val="000000"/>
                </a:solidFill>
                <a:latin typeface="Arial"/>
              </a:rPr>
              <a:t>5.34</a:t>
            </a:r>
          </a:p>
        </p:txBody>
      </p:sp>
      <p:sp>
        <p:nvSpPr>
          <p:cNvPr id="43" name="TextBox 42"/>
          <p:cNvSpPr txBox="1"/>
          <p:nvPr/>
        </p:nvSpPr>
        <p:spPr>
          <a:xfrm>
            <a:off x="4818888" y="4974336"/>
            <a:ext cx="1357701" cy="265176"/>
          </a:xfrm>
          <a:prstGeom prst="rect">
            <a:avLst/>
          </a:prstGeom>
          <a:noFill/>
        </p:spPr>
        <p:txBody>
          <a:bodyPr wrap="square" anchor="t" lIns="0" rIns="0" tIns="0" bIns="0">
            <a:spAutoFit/>
          </a:bodyPr>
          <a:lstStyle/>
          <a:p>
            <a:pPr algn="l"/>
            <a:r>
              <a:rPr sz="640" b="1">
                <a:solidFill>
                  <a:srgbClr val="000000"/>
                </a:solidFill>
                <a:latin typeface="Arial"/>
              </a:rPr>
              <a:t>Maximum Drawdown (3y) :</a:t>
            </a:r>
          </a:p>
        </p:txBody>
      </p:sp>
      <p:sp>
        <p:nvSpPr>
          <p:cNvPr id="44" name="TextBox 43"/>
          <p:cNvSpPr txBox="1"/>
          <p:nvPr/>
        </p:nvSpPr>
        <p:spPr>
          <a:xfrm>
            <a:off x="6176589" y="4974336"/>
            <a:ext cx="983162" cy="265176"/>
          </a:xfrm>
          <a:prstGeom prst="rect">
            <a:avLst/>
          </a:prstGeom>
          <a:noFill/>
        </p:spPr>
        <p:txBody>
          <a:bodyPr wrap="square" anchor="t" lIns="0" rIns="0" tIns="0" bIns="0">
            <a:spAutoFit/>
          </a:bodyPr>
          <a:lstStyle/>
          <a:p>
            <a:pPr algn="l"/>
            <a:r>
              <a:rPr sz="640" b="0">
                <a:solidFill>
                  <a:srgbClr val="000000"/>
                </a:solidFill>
                <a:latin typeface="Arial"/>
              </a:rPr>
              <a:t>-0.28%</a:t>
            </a:r>
          </a:p>
        </p:txBody>
      </p:sp>
      <p:sp>
        <p:nvSpPr>
          <p:cNvPr id="45" name="TextBox 44"/>
          <p:cNvSpPr txBox="1"/>
          <p:nvPr/>
        </p:nvSpPr>
        <p:spPr>
          <a:xfrm>
            <a:off x="4818888" y="5239512"/>
            <a:ext cx="1357701" cy="265176"/>
          </a:xfrm>
          <a:prstGeom prst="rect">
            <a:avLst/>
          </a:prstGeom>
          <a:noFill/>
        </p:spPr>
        <p:txBody>
          <a:bodyPr wrap="square" anchor="t" lIns="0" rIns="0" tIns="0" bIns="0">
            <a:spAutoFit/>
          </a:bodyPr>
          <a:lstStyle/>
          <a:p>
            <a:pPr algn="l"/>
            <a:r>
              <a:rPr sz="640" b="1">
                <a:solidFill>
                  <a:srgbClr val="000000"/>
                </a:solidFill>
                <a:latin typeface="Arial"/>
              </a:rPr>
              <a:t>Beta (3y) :</a:t>
            </a:r>
          </a:p>
        </p:txBody>
      </p:sp>
      <p:sp>
        <p:nvSpPr>
          <p:cNvPr id="46" name="TextBox 45"/>
          <p:cNvSpPr txBox="1"/>
          <p:nvPr/>
        </p:nvSpPr>
        <p:spPr>
          <a:xfrm>
            <a:off x="6176589" y="5239512"/>
            <a:ext cx="983162" cy="265176"/>
          </a:xfrm>
          <a:prstGeom prst="rect">
            <a:avLst/>
          </a:prstGeom>
          <a:noFill/>
        </p:spPr>
        <p:txBody>
          <a:bodyPr wrap="square" anchor="t" lIns="0" rIns="0" tIns="0" bIns="0">
            <a:spAutoFit/>
          </a:bodyPr>
          <a:lstStyle/>
          <a:p>
            <a:pPr algn="l"/>
            <a:r>
              <a:rPr sz="640" b="0">
                <a:solidFill>
                  <a:srgbClr val="000000"/>
                </a:solidFill>
                <a:latin typeface="Arial"/>
              </a:rPr>
              <a:t>0.81</a:t>
            </a:r>
          </a:p>
        </p:txBody>
      </p:sp>
      <p:sp>
        <p:nvSpPr>
          <p:cNvPr id="47" name="TextBox 46"/>
          <p:cNvSpPr txBox="1"/>
          <p:nvPr/>
        </p:nvSpPr>
        <p:spPr>
          <a:xfrm>
            <a:off x="4818888" y="5504688"/>
            <a:ext cx="1357701" cy="265176"/>
          </a:xfrm>
          <a:prstGeom prst="rect">
            <a:avLst/>
          </a:prstGeom>
          <a:noFill/>
        </p:spPr>
        <p:txBody>
          <a:bodyPr wrap="square" anchor="t" lIns="0" rIns="0" tIns="0" bIns="0">
            <a:spAutoFit/>
          </a:bodyPr>
          <a:lstStyle/>
          <a:p>
            <a:pPr algn="l"/>
            <a:r>
              <a:rPr sz="640" b="1">
                <a:solidFill>
                  <a:srgbClr val="000000"/>
                </a:solidFill>
                <a:latin typeface="Arial"/>
              </a:rPr>
              <a:t>Tracking Error (3y) :</a:t>
            </a:r>
          </a:p>
        </p:txBody>
      </p:sp>
      <p:sp>
        <p:nvSpPr>
          <p:cNvPr id="48" name="TextBox 47"/>
          <p:cNvSpPr txBox="1"/>
          <p:nvPr/>
        </p:nvSpPr>
        <p:spPr>
          <a:xfrm>
            <a:off x="6176589" y="5504688"/>
            <a:ext cx="983162" cy="265176"/>
          </a:xfrm>
          <a:prstGeom prst="rect">
            <a:avLst/>
          </a:prstGeom>
          <a:noFill/>
        </p:spPr>
        <p:txBody>
          <a:bodyPr wrap="square" anchor="t" lIns="0" rIns="0" tIns="0" bIns="0">
            <a:spAutoFit/>
          </a:bodyPr>
          <a:lstStyle/>
          <a:p>
            <a:pPr algn="l"/>
            <a:r>
              <a:rPr sz="640" b="0">
                <a:solidFill>
                  <a:srgbClr val="000000"/>
                </a:solidFill>
                <a:latin typeface="Arial"/>
              </a:rPr>
              <a:t>0.54%</a:t>
            </a:r>
          </a:p>
        </p:txBody>
      </p:sp>
      <p:sp>
        <p:nvSpPr>
          <p:cNvPr id="49" name="TextBox 48"/>
          <p:cNvSpPr txBox="1"/>
          <p:nvPr/>
        </p:nvSpPr>
        <p:spPr>
          <a:xfrm>
            <a:off x="4818888" y="5769864"/>
            <a:ext cx="1357701" cy="265176"/>
          </a:xfrm>
          <a:prstGeom prst="rect">
            <a:avLst/>
          </a:prstGeom>
          <a:noFill/>
        </p:spPr>
        <p:txBody>
          <a:bodyPr wrap="square" anchor="t" lIns="0" rIns="0" tIns="0" bIns="0">
            <a:spAutoFit/>
          </a:bodyPr>
          <a:lstStyle/>
          <a:p>
            <a:pPr algn="l"/>
            <a:r>
              <a:rPr sz="640" b="1">
                <a:solidFill>
                  <a:srgbClr val="000000"/>
                </a:solidFill>
                <a:latin typeface="Arial"/>
              </a:rPr>
              <a:t>Number of Holdings :</a:t>
            </a:r>
          </a:p>
        </p:txBody>
      </p:sp>
      <p:sp>
        <p:nvSpPr>
          <p:cNvPr id="50" name="TextBox 49"/>
          <p:cNvSpPr txBox="1"/>
          <p:nvPr/>
        </p:nvSpPr>
        <p:spPr>
          <a:xfrm>
            <a:off x="6176589" y="5769864"/>
            <a:ext cx="983162" cy="265176"/>
          </a:xfrm>
          <a:prstGeom prst="rect">
            <a:avLst/>
          </a:prstGeom>
          <a:noFill/>
        </p:spPr>
        <p:txBody>
          <a:bodyPr wrap="square" anchor="t" lIns="0" rIns="0" tIns="0" bIns="0">
            <a:spAutoFit/>
          </a:bodyPr>
          <a:lstStyle/>
          <a:p>
            <a:pPr algn="l"/>
            <a:r>
              <a:rPr sz="640" b="0">
                <a:solidFill>
                  <a:srgbClr val="000000"/>
                </a:solidFill>
                <a:latin typeface="Arial"/>
              </a:rPr>
              <a:t>15</a:t>
            </a:r>
          </a:p>
        </p:txBody>
      </p:sp>
      <p:sp>
        <p:nvSpPr>
          <p:cNvPr id="51" name="TextBox 50"/>
          <p:cNvSpPr txBox="1"/>
          <p:nvPr/>
        </p:nvSpPr>
        <p:spPr>
          <a:xfrm>
            <a:off x="4818888" y="6035040"/>
            <a:ext cx="1357701" cy="265176"/>
          </a:xfrm>
          <a:prstGeom prst="rect">
            <a:avLst/>
          </a:prstGeom>
          <a:noFill/>
        </p:spPr>
        <p:txBody>
          <a:bodyPr wrap="square" anchor="t" lIns="0" rIns="0" tIns="0" bIns="0">
            <a:spAutoFit/>
          </a:bodyPr>
          <a:lstStyle/>
          <a:p>
            <a:pPr algn="l"/>
            <a:r>
              <a:rPr sz="640" b="1">
                <a:solidFill>
                  <a:srgbClr val="000000"/>
                </a:solidFill>
                <a:latin typeface="Arial"/>
              </a:rPr>
              <a:t>Cash Weight :</a:t>
            </a:r>
          </a:p>
        </p:txBody>
      </p:sp>
      <p:sp>
        <p:nvSpPr>
          <p:cNvPr id="52" name="TextBox 51"/>
          <p:cNvSpPr txBox="1"/>
          <p:nvPr/>
        </p:nvSpPr>
        <p:spPr>
          <a:xfrm>
            <a:off x="6176589" y="6035040"/>
            <a:ext cx="983162" cy="265176"/>
          </a:xfrm>
          <a:prstGeom prst="rect">
            <a:avLst/>
          </a:prstGeom>
          <a:noFill/>
        </p:spPr>
        <p:txBody>
          <a:bodyPr wrap="square" anchor="t" lIns="0" rIns="0" tIns="0" bIns="0">
            <a:spAutoFit/>
          </a:bodyPr>
          <a:lstStyle/>
          <a:p>
            <a:pPr algn="l"/>
            <a:r>
              <a:rPr sz="640" b="0">
                <a:solidFill>
                  <a:srgbClr val="000000"/>
                </a:solidFill>
                <a:latin typeface="Arial"/>
              </a:rPr>
              <a:t>12.30%</a:t>
            </a:r>
          </a:p>
        </p:txBody>
      </p:sp>
      <p:sp>
        <p:nvSpPr>
          <p:cNvPr id="53" name="TextBox 52"/>
          <p:cNvSpPr txBox="1"/>
          <p:nvPr/>
        </p:nvSpPr>
        <p:spPr>
          <a:xfrm>
            <a:off x="4818888" y="6300216"/>
            <a:ext cx="1357701" cy="265176"/>
          </a:xfrm>
          <a:prstGeom prst="rect">
            <a:avLst/>
          </a:prstGeom>
          <a:noFill/>
        </p:spPr>
        <p:txBody>
          <a:bodyPr wrap="square" anchor="t" lIns="0" rIns="0" tIns="0" bIns="0">
            <a:spAutoFit/>
          </a:bodyPr>
          <a:lstStyle/>
          <a:p>
            <a:pPr algn="l"/>
            <a:r>
              <a:rPr sz="640" b="1">
                <a:solidFill>
                  <a:srgbClr val="000000"/>
                </a:solidFill>
                <a:latin typeface="Arial"/>
              </a:rPr>
              <a:t>Top 10 Concentration :</a:t>
            </a:r>
          </a:p>
        </p:txBody>
      </p:sp>
      <p:sp>
        <p:nvSpPr>
          <p:cNvPr id="54" name="TextBox 53"/>
          <p:cNvSpPr txBox="1"/>
          <p:nvPr/>
        </p:nvSpPr>
        <p:spPr>
          <a:xfrm>
            <a:off x="6176589" y="6300216"/>
            <a:ext cx="983162" cy="265176"/>
          </a:xfrm>
          <a:prstGeom prst="rect">
            <a:avLst/>
          </a:prstGeom>
          <a:noFill/>
        </p:spPr>
        <p:txBody>
          <a:bodyPr wrap="square" anchor="t" lIns="0" rIns="0" tIns="0" bIns="0">
            <a:spAutoFit/>
          </a:bodyPr>
          <a:lstStyle/>
          <a:p>
            <a:pPr algn="l"/>
            <a:r>
              <a:rPr sz="640" b="0">
                <a:solidFill>
                  <a:srgbClr val="000000"/>
                </a:solidFill>
                <a:latin typeface="Arial"/>
              </a:rPr>
              <a:t>65.50%</a:t>
            </a:r>
          </a:p>
        </p:txBody>
      </p:sp>
      <p:cxnSp>
        <p:nvCxnSpPr>
          <p:cNvPr id="55" name="Connector 54"/>
          <p:cNvCxnSpPr/>
          <p:nvPr/>
        </p:nvCxnSpPr>
        <p:spPr>
          <a:xfrm>
            <a:off x="4818888" y="6592824"/>
            <a:ext cx="2340864" cy="0"/>
          </a:xfrm>
          <a:prstGeom prst="line">
            <a:avLst/>
          </a:prstGeom>
          <a:ln w="6985">
            <a:solidFill>
              <a:srgbClr val="4A4A4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818888" y="6693408"/>
            <a:ext cx="2340864" cy="201168"/>
          </a:xfrm>
          <a:prstGeom prst="rect">
            <a:avLst/>
          </a:prstGeom>
          <a:noFill/>
        </p:spPr>
        <p:txBody>
          <a:bodyPr wrap="square" anchor="t" lIns="0" rIns="0" tIns="0" bIns="0">
            <a:spAutoFit/>
          </a:bodyPr>
          <a:lstStyle/>
          <a:p>
            <a:pPr algn="l"/>
            <a:r>
              <a:rPr sz="819" b="1">
                <a:solidFill>
                  <a:srgbClr val="000000"/>
                </a:solidFill>
                <a:latin typeface="Arial"/>
              </a:rPr>
              <a:t>TOP HOLDINGS (%)</a:t>
            </a:r>
          </a:p>
        </p:txBody>
      </p:sp>
      <p:sp>
        <p:nvSpPr>
          <p:cNvPr id="57" name="TextBox 56"/>
          <p:cNvSpPr txBox="1"/>
          <p:nvPr/>
        </p:nvSpPr>
        <p:spPr>
          <a:xfrm>
            <a:off x="4818888" y="6922008"/>
            <a:ext cx="1732239" cy="182880"/>
          </a:xfrm>
          <a:prstGeom prst="rect">
            <a:avLst/>
          </a:prstGeom>
          <a:noFill/>
        </p:spPr>
        <p:txBody>
          <a:bodyPr wrap="square" anchor="t" lIns="0" rIns="0" tIns="0" bIns="0">
            <a:spAutoFit/>
          </a:bodyPr>
          <a:lstStyle/>
          <a:p>
            <a:pPr algn="l"/>
            <a:r>
              <a:rPr sz="620" b="0">
                <a:solidFill>
                  <a:srgbClr val="000000"/>
                </a:solidFill>
                <a:latin typeface="Arial"/>
              </a:rPr>
              <a:t>Northstar Technology</a:t>
            </a:r>
          </a:p>
        </p:txBody>
      </p:sp>
      <p:sp>
        <p:nvSpPr>
          <p:cNvPr id="58" name="TextBox 57"/>
          <p:cNvSpPr txBox="1"/>
          <p:nvPr/>
        </p:nvSpPr>
        <p:spPr>
          <a:xfrm>
            <a:off x="6551127" y="6922008"/>
            <a:ext cx="608624" cy="182880"/>
          </a:xfrm>
          <a:prstGeom prst="rect">
            <a:avLst/>
          </a:prstGeom>
          <a:noFill/>
        </p:spPr>
        <p:txBody>
          <a:bodyPr wrap="square" anchor="t" lIns="0" rIns="0" tIns="0" bIns="0">
            <a:spAutoFit/>
          </a:bodyPr>
          <a:lstStyle/>
          <a:p>
            <a:pPr algn="r"/>
            <a:r>
              <a:rPr sz="620" b="0">
                <a:solidFill>
                  <a:srgbClr val="000000"/>
                </a:solidFill>
                <a:latin typeface="Arial"/>
              </a:rPr>
              <a:t>9.00%</a:t>
            </a:r>
          </a:p>
        </p:txBody>
      </p:sp>
      <p:sp>
        <p:nvSpPr>
          <p:cNvPr id="59" name="TextBox 58"/>
          <p:cNvSpPr txBox="1"/>
          <p:nvPr/>
        </p:nvSpPr>
        <p:spPr>
          <a:xfrm>
            <a:off x="4818888" y="7114032"/>
            <a:ext cx="1732239" cy="182880"/>
          </a:xfrm>
          <a:prstGeom prst="rect">
            <a:avLst/>
          </a:prstGeom>
          <a:noFill/>
        </p:spPr>
        <p:txBody>
          <a:bodyPr wrap="square" anchor="t" lIns="0" rIns="0" tIns="0" bIns="0">
            <a:spAutoFit/>
          </a:bodyPr>
          <a:lstStyle/>
          <a:p>
            <a:pPr algn="l"/>
            <a:r>
              <a:rPr sz="620" b="0">
                <a:solidFill>
                  <a:srgbClr val="000000"/>
                </a:solidFill>
                <a:latin typeface="Arial"/>
              </a:rPr>
              <a:t>Atlas Cloud Systems</a:t>
            </a:r>
          </a:p>
        </p:txBody>
      </p:sp>
      <p:sp>
        <p:nvSpPr>
          <p:cNvPr id="60" name="TextBox 59"/>
          <p:cNvSpPr txBox="1"/>
          <p:nvPr/>
        </p:nvSpPr>
        <p:spPr>
          <a:xfrm>
            <a:off x="6551127" y="7114032"/>
            <a:ext cx="608624" cy="182880"/>
          </a:xfrm>
          <a:prstGeom prst="rect">
            <a:avLst/>
          </a:prstGeom>
          <a:noFill/>
        </p:spPr>
        <p:txBody>
          <a:bodyPr wrap="square" anchor="t" lIns="0" rIns="0" tIns="0" bIns="0">
            <a:spAutoFit/>
          </a:bodyPr>
          <a:lstStyle/>
          <a:p>
            <a:pPr algn="r"/>
            <a:r>
              <a:rPr sz="620" b="0">
                <a:solidFill>
                  <a:srgbClr val="000000"/>
                </a:solidFill>
                <a:latin typeface="Arial"/>
              </a:rPr>
              <a:t>8.20%</a:t>
            </a:r>
          </a:p>
        </p:txBody>
      </p:sp>
      <p:sp>
        <p:nvSpPr>
          <p:cNvPr id="61" name="TextBox 60"/>
          <p:cNvSpPr txBox="1"/>
          <p:nvPr/>
        </p:nvSpPr>
        <p:spPr>
          <a:xfrm>
            <a:off x="4818888" y="7306056"/>
            <a:ext cx="1732239" cy="182880"/>
          </a:xfrm>
          <a:prstGeom prst="rect">
            <a:avLst/>
          </a:prstGeom>
          <a:noFill/>
        </p:spPr>
        <p:txBody>
          <a:bodyPr wrap="square" anchor="t" lIns="0" rIns="0" tIns="0" bIns="0">
            <a:spAutoFit/>
          </a:bodyPr>
          <a:lstStyle/>
          <a:p>
            <a:pPr algn="l"/>
            <a:r>
              <a:rPr sz="620" b="0">
                <a:solidFill>
                  <a:srgbClr val="000000"/>
                </a:solidFill>
                <a:latin typeface="Arial"/>
              </a:rPr>
              <a:t>Helios Healthcare</a:t>
            </a:r>
          </a:p>
        </p:txBody>
      </p:sp>
      <p:sp>
        <p:nvSpPr>
          <p:cNvPr id="62" name="TextBox 61"/>
          <p:cNvSpPr txBox="1"/>
          <p:nvPr/>
        </p:nvSpPr>
        <p:spPr>
          <a:xfrm>
            <a:off x="6551127" y="7306056"/>
            <a:ext cx="608624" cy="182880"/>
          </a:xfrm>
          <a:prstGeom prst="rect">
            <a:avLst/>
          </a:prstGeom>
          <a:noFill/>
        </p:spPr>
        <p:txBody>
          <a:bodyPr wrap="square" anchor="t" lIns="0" rIns="0" tIns="0" bIns="0">
            <a:spAutoFit/>
          </a:bodyPr>
          <a:lstStyle/>
          <a:p>
            <a:pPr algn="r"/>
            <a:r>
              <a:rPr sz="620" b="0">
                <a:solidFill>
                  <a:srgbClr val="000000"/>
                </a:solidFill>
                <a:latin typeface="Arial"/>
              </a:rPr>
              <a:t>7.40%</a:t>
            </a:r>
          </a:p>
        </p:txBody>
      </p:sp>
      <p:sp>
        <p:nvSpPr>
          <p:cNvPr id="63" name="TextBox 62"/>
          <p:cNvSpPr txBox="1"/>
          <p:nvPr/>
        </p:nvSpPr>
        <p:spPr>
          <a:xfrm>
            <a:off x="4818888" y="7498080"/>
            <a:ext cx="1732239" cy="182880"/>
          </a:xfrm>
          <a:prstGeom prst="rect">
            <a:avLst/>
          </a:prstGeom>
          <a:noFill/>
        </p:spPr>
        <p:txBody>
          <a:bodyPr wrap="square" anchor="t" lIns="0" rIns="0" tIns="0" bIns="0">
            <a:spAutoFit/>
          </a:bodyPr>
          <a:lstStyle/>
          <a:p>
            <a:pPr algn="l"/>
            <a:r>
              <a:rPr sz="620" b="0">
                <a:solidFill>
                  <a:srgbClr val="000000"/>
                </a:solidFill>
                <a:latin typeface="Arial"/>
              </a:rPr>
              <a:t>Aurora Consumer Brands</a:t>
            </a:r>
          </a:p>
        </p:txBody>
      </p:sp>
      <p:sp>
        <p:nvSpPr>
          <p:cNvPr id="64" name="TextBox 63"/>
          <p:cNvSpPr txBox="1"/>
          <p:nvPr/>
        </p:nvSpPr>
        <p:spPr>
          <a:xfrm>
            <a:off x="6551127" y="7498080"/>
            <a:ext cx="608624" cy="182880"/>
          </a:xfrm>
          <a:prstGeom prst="rect">
            <a:avLst/>
          </a:prstGeom>
          <a:noFill/>
        </p:spPr>
        <p:txBody>
          <a:bodyPr wrap="square" anchor="t" lIns="0" rIns="0" tIns="0" bIns="0">
            <a:spAutoFit/>
          </a:bodyPr>
          <a:lstStyle/>
          <a:p>
            <a:pPr algn="r"/>
            <a:r>
              <a:rPr sz="620" b="0">
                <a:solidFill>
                  <a:srgbClr val="000000"/>
                </a:solidFill>
                <a:latin typeface="Arial"/>
              </a:rPr>
              <a:t>6.80%</a:t>
            </a:r>
          </a:p>
        </p:txBody>
      </p:sp>
      <p:sp>
        <p:nvSpPr>
          <p:cNvPr id="65" name="TextBox 64"/>
          <p:cNvSpPr txBox="1"/>
          <p:nvPr/>
        </p:nvSpPr>
        <p:spPr>
          <a:xfrm>
            <a:off x="4818888" y="7690104"/>
            <a:ext cx="1732239" cy="182880"/>
          </a:xfrm>
          <a:prstGeom prst="rect">
            <a:avLst/>
          </a:prstGeom>
          <a:noFill/>
        </p:spPr>
        <p:txBody>
          <a:bodyPr wrap="square" anchor="t" lIns="0" rIns="0" tIns="0" bIns="0">
            <a:spAutoFit/>
          </a:bodyPr>
          <a:lstStyle/>
          <a:p>
            <a:pPr algn="l"/>
            <a:r>
              <a:rPr sz="620" b="0">
                <a:solidFill>
                  <a:srgbClr val="000000"/>
                </a:solidFill>
                <a:latin typeface="Arial"/>
              </a:rPr>
              <a:t>Meridian Financial Group</a:t>
            </a:r>
          </a:p>
        </p:txBody>
      </p:sp>
      <p:sp>
        <p:nvSpPr>
          <p:cNvPr id="66" name="TextBox 65"/>
          <p:cNvSpPr txBox="1"/>
          <p:nvPr/>
        </p:nvSpPr>
        <p:spPr>
          <a:xfrm>
            <a:off x="6551127" y="7690104"/>
            <a:ext cx="608624" cy="182880"/>
          </a:xfrm>
          <a:prstGeom prst="rect">
            <a:avLst/>
          </a:prstGeom>
          <a:noFill/>
        </p:spPr>
        <p:txBody>
          <a:bodyPr wrap="square" anchor="t" lIns="0" rIns="0" tIns="0" bIns="0">
            <a:spAutoFit/>
          </a:bodyPr>
          <a:lstStyle/>
          <a:p>
            <a:pPr algn="r"/>
            <a:r>
              <a:rPr sz="620" b="0">
                <a:solidFill>
                  <a:srgbClr val="000000"/>
                </a:solidFill>
                <a:latin typeface="Arial"/>
              </a:rPr>
              <a:t>6.60%</a:t>
            </a:r>
          </a:p>
        </p:txBody>
      </p:sp>
      <p:sp>
        <p:nvSpPr>
          <p:cNvPr id="67" name="TextBox 66"/>
          <p:cNvSpPr txBox="1"/>
          <p:nvPr/>
        </p:nvSpPr>
        <p:spPr>
          <a:xfrm>
            <a:off x="4818888" y="7882128"/>
            <a:ext cx="1732239" cy="182880"/>
          </a:xfrm>
          <a:prstGeom prst="rect">
            <a:avLst/>
          </a:prstGeom>
          <a:noFill/>
        </p:spPr>
        <p:txBody>
          <a:bodyPr wrap="square" anchor="t" lIns="0" rIns="0" tIns="0" bIns="0">
            <a:spAutoFit/>
          </a:bodyPr>
          <a:lstStyle/>
          <a:p>
            <a:pPr algn="l"/>
            <a:r>
              <a:rPr sz="620" b="0">
                <a:solidFill>
                  <a:srgbClr val="000000"/>
                </a:solidFill>
                <a:latin typeface="Arial"/>
              </a:rPr>
              <a:t>Pacific Automation</a:t>
            </a:r>
          </a:p>
        </p:txBody>
      </p:sp>
      <p:sp>
        <p:nvSpPr>
          <p:cNvPr id="68" name="TextBox 67"/>
          <p:cNvSpPr txBox="1"/>
          <p:nvPr/>
        </p:nvSpPr>
        <p:spPr>
          <a:xfrm>
            <a:off x="6551127" y="7882128"/>
            <a:ext cx="608624" cy="182880"/>
          </a:xfrm>
          <a:prstGeom prst="rect">
            <a:avLst/>
          </a:prstGeom>
          <a:noFill/>
        </p:spPr>
        <p:txBody>
          <a:bodyPr wrap="square" anchor="t" lIns="0" rIns="0" tIns="0" bIns="0">
            <a:spAutoFit/>
          </a:bodyPr>
          <a:lstStyle/>
          <a:p>
            <a:pPr algn="r"/>
            <a:r>
              <a:rPr sz="620" b="0">
                <a:solidFill>
                  <a:srgbClr val="000000"/>
                </a:solidFill>
                <a:latin typeface="Arial"/>
              </a:rPr>
              <a:t>6.10%</a:t>
            </a:r>
          </a:p>
        </p:txBody>
      </p:sp>
      <p:sp>
        <p:nvSpPr>
          <p:cNvPr id="69" name="TextBox 68"/>
          <p:cNvSpPr txBox="1"/>
          <p:nvPr/>
        </p:nvSpPr>
        <p:spPr>
          <a:xfrm>
            <a:off x="4818888" y="8074152"/>
            <a:ext cx="1732239" cy="182880"/>
          </a:xfrm>
          <a:prstGeom prst="rect">
            <a:avLst/>
          </a:prstGeom>
          <a:noFill/>
        </p:spPr>
        <p:txBody>
          <a:bodyPr wrap="square" anchor="t" lIns="0" rIns="0" tIns="0" bIns="0">
            <a:spAutoFit/>
          </a:bodyPr>
          <a:lstStyle/>
          <a:p>
            <a:pPr algn="l"/>
            <a:r>
              <a:rPr sz="620" b="0">
                <a:solidFill>
                  <a:srgbClr val="000000"/>
                </a:solidFill>
                <a:latin typeface="Arial"/>
              </a:rPr>
              <a:t>GreenGrid Utilities</a:t>
            </a:r>
          </a:p>
        </p:txBody>
      </p:sp>
      <p:sp>
        <p:nvSpPr>
          <p:cNvPr id="70" name="TextBox 69"/>
          <p:cNvSpPr txBox="1"/>
          <p:nvPr/>
        </p:nvSpPr>
        <p:spPr>
          <a:xfrm>
            <a:off x="6551127" y="8074152"/>
            <a:ext cx="608624" cy="182880"/>
          </a:xfrm>
          <a:prstGeom prst="rect">
            <a:avLst/>
          </a:prstGeom>
          <a:noFill/>
        </p:spPr>
        <p:txBody>
          <a:bodyPr wrap="square" anchor="t" lIns="0" rIns="0" tIns="0" bIns="0">
            <a:spAutoFit/>
          </a:bodyPr>
          <a:lstStyle/>
          <a:p>
            <a:pPr algn="r"/>
            <a:r>
              <a:rPr sz="620" b="0">
                <a:solidFill>
                  <a:srgbClr val="000000"/>
                </a:solidFill>
                <a:latin typeface="Arial"/>
              </a:rPr>
              <a:t>5.70%</a:t>
            </a:r>
          </a:p>
        </p:txBody>
      </p:sp>
      <p:sp>
        <p:nvSpPr>
          <p:cNvPr id="71" name="TextBox 70"/>
          <p:cNvSpPr txBox="1"/>
          <p:nvPr/>
        </p:nvSpPr>
        <p:spPr>
          <a:xfrm>
            <a:off x="4818888" y="8266176"/>
            <a:ext cx="1732239" cy="182880"/>
          </a:xfrm>
          <a:prstGeom prst="rect">
            <a:avLst/>
          </a:prstGeom>
          <a:noFill/>
        </p:spPr>
        <p:txBody>
          <a:bodyPr wrap="square" anchor="t" lIns="0" rIns="0" tIns="0" bIns="0">
            <a:spAutoFit/>
          </a:bodyPr>
          <a:lstStyle/>
          <a:p>
            <a:pPr algn="l"/>
            <a:r>
              <a:rPr sz="620" b="0">
                <a:solidFill>
                  <a:srgbClr val="000000"/>
                </a:solidFill>
                <a:latin typeface="Arial"/>
              </a:rPr>
              <a:t>Nova Semiconductors</a:t>
            </a:r>
          </a:p>
        </p:txBody>
      </p:sp>
      <p:sp>
        <p:nvSpPr>
          <p:cNvPr id="72" name="TextBox 71"/>
          <p:cNvSpPr txBox="1"/>
          <p:nvPr/>
        </p:nvSpPr>
        <p:spPr>
          <a:xfrm>
            <a:off x="6551127" y="8266176"/>
            <a:ext cx="608624" cy="182880"/>
          </a:xfrm>
          <a:prstGeom prst="rect">
            <a:avLst/>
          </a:prstGeom>
          <a:noFill/>
        </p:spPr>
        <p:txBody>
          <a:bodyPr wrap="square" anchor="t" lIns="0" rIns="0" tIns="0" bIns="0">
            <a:spAutoFit/>
          </a:bodyPr>
          <a:lstStyle/>
          <a:p>
            <a:pPr algn="r"/>
            <a:r>
              <a:rPr sz="620" b="0">
                <a:solidFill>
                  <a:srgbClr val="000000"/>
                </a:solidFill>
                <a:latin typeface="Arial"/>
              </a:rPr>
              <a:t>5.50%</a:t>
            </a:r>
          </a:p>
        </p:txBody>
      </p:sp>
      <p:sp>
        <p:nvSpPr>
          <p:cNvPr id="73" name="TextBox 72"/>
          <p:cNvSpPr txBox="1"/>
          <p:nvPr/>
        </p:nvSpPr>
        <p:spPr>
          <a:xfrm>
            <a:off x="4818888" y="8476488"/>
            <a:ext cx="2340864" cy="237744"/>
          </a:xfrm>
          <a:prstGeom prst="rect">
            <a:avLst/>
          </a:prstGeom>
          <a:noFill/>
        </p:spPr>
        <p:txBody>
          <a:bodyPr wrap="square" anchor="t" lIns="0" rIns="0" tIns="0" bIns="0">
            <a:spAutoFit/>
          </a:bodyPr>
          <a:lstStyle/>
          <a:p>
            <a:pPr algn="l"/>
            <a:r>
              <a:rPr sz="530" b="0">
                <a:solidFill>
                  <a:srgbClr val="464646"/>
                </a:solidFill>
                <a:latin typeface="Arial"/>
              </a:rPr>
              <a:t>Holdings are subject to change.</a:t>
            </a:r>
          </a:p>
        </p:txBody>
      </p:sp>
      <p:cxnSp>
        <p:nvCxnSpPr>
          <p:cNvPr id="74" name="Connector 73"/>
          <p:cNvCxnSpPr/>
          <p:nvPr/>
        </p:nvCxnSpPr>
        <p:spPr>
          <a:xfrm>
            <a:off x="4818888" y="8741664"/>
            <a:ext cx="2340864" cy="0"/>
          </a:xfrm>
          <a:prstGeom prst="line">
            <a:avLst/>
          </a:prstGeom>
          <a:ln w="6985">
            <a:solidFill>
              <a:srgbClr val="4A4A4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356616" y="10369296"/>
            <a:ext cx="4297680" cy="128016"/>
          </a:xfrm>
          <a:prstGeom prst="rect">
            <a:avLst/>
          </a:prstGeom>
          <a:noFill/>
        </p:spPr>
        <p:txBody>
          <a:bodyPr wrap="square" anchor="t" lIns="0" rIns="0" tIns="0" bIns="0">
            <a:spAutoFit/>
          </a:bodyPr>
          <a:lstStyle/>
          <a:p>
            <a:pPr algn="l"/>
            <a:r>
              <a:rPr sz="550" b="0">
                <a:solidFill>
                  <a:srgbClr val="555555"/>
                </a:solidFill>
                <a:latin typeface="Arial"/>
              </a:rPr>
              <a:t>Synthetic demonstration - not for investment use</a:t>
            </a:r>
          </a:p>
        </p:txBody>
      </p:sp>
      <p:sp>
        <p:nvSpPr>
          <p:cNvPr id="76" name="TextBox 75"/>
          <p:cNvSpPr txBox="1"/>
          <p:nvPr/>
        </p:nvSpPr>
        <p:spPr>
          <a:xfrm>
            <a:off x="6400800" y="10369296"/>
            <a:ext cx="804672" cy="128016"/>
          </a:xfrm>
          <a:prstGeom prst="rect">
            <a:avLst/>
          </a:prstGeom>
          <a:noFill/>
        </p:spPr>
        <p:txBody>
          <a:bodyPr wrap="square" anchor="t" lIns="0" rIns="0" tIns="0" bIns="0">
            <a:spAutoFit/>
          </a:bodyPr>
          <a:lstStyle/>
          <a:p>
            <a:pPr algn="r"/>
            <a:r>
              <a:rPr sz="550" b="0">
                <a:solidFill>
                  <a:srgbClr val="555555"/>
                </a:solidFill>
                <a:latin typeface="Arial"/>
              </a:rPr>
              <a:t>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56616" y="429768"/>
            <a:ext cx="5120640" cy="347472"/>
          </a:xfrm>
          <a:prstGeom prst="rect">
            <a:avLst/>
          </a:prstGeom>
          <a:noFill/>
        </p:spPr>
        <p:txBody>
          <a:bodyPr wrap="square" anchor="t" lIns="0" rIns="0" tIns="0" bIns="0">
            <a:spAutoFit/>
          </a:bodyPr>
          <a:lstStyle/>
          <a:p>
            <a:pPr algn="l"/>
            <a:r>
              <a:rPr sz="1250" b="1">
                <a:solidFill>
                  <a:srgbClr val="000000"/>
                </a:solidFill>
                <a:latin typeface="Arial"/>
              </a:rPr>
              <a:t>Alpha Global Equity Fund</a:t>
            </a:r>
          </a:p>
        </p:txBody>
      </p:sp>
      <p:cxnSp>
        <p:nvCxnSpPr>
          <p:cNvPr id="3" name="Connector 2"/>
          <p:cNvCxnSpPr/>
          <p:nvPr/>
        </p:nvCxnSpPr>
        <p:spPr>
          <a:xfrm>
            <a:off x="356616" y="1078992"/>
            <a:ext cx="6846752" cy="0"/>
          </a:xfrm>
          <a:prstGeom prst="line">
            <a:avLst/>
          </a:prstGeom>
          <a:ln w="7620">
            <a:solidFill>
              <a:srgbClr val="4A4A4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84048" y="1207008"/>
            <a:ext cx="3246120" cy="201168"/>
          </a:xfrm>
          <a:prstGeom prst="rect">
            <a:avLst/>
          </a:prstGeom>
          <a:noFill/>
        </p:spPr>
        <p:txBody>
          <a:bodyPr wrap="square" anchor="t" lIns="0" rIns="0" tIns="0" bIns="0">
            <a:spAutoFit/>
          </a:bodyPr>
          <a:lstStyle/>
          <a:p>
            <a:pPr algn="l"/>
            <a:r>
              <a:rPr sz="819" b="1">
                <a:solidFill>
                  <a:srgbClr val="000000"/>
                </a:solidFill>
                <a:latin typeface="Arial"/>
              </a:rPr>
              <a:t>GLOSSARY</a:t>
            </a:r>
          </a:p>
        </p:txBody>
      </p:sp>
      <p:sp>
        <p:nvSpPr>
          <p:cNvPr id="5" name="TextBox 4"/>
          <p:cNvSpPr txBox="1"/>
          <p:nvPr/>
        </p:nvSpPr>
        <p:spPr>
          <a:xfrm>
            <a:off x="384048" y="1463040"/>
            <a:ext cx="3246120" cy="484632"/>
          </a:xfrm>
          <a:prstGeom prst="rect">
            <a:avLst/>
          </a:prstGeom>
          <a:noFill/>
        </p:spPr>
        <p:txBody>
          <a:bodyPr wrap="square" anchor="t" lIns="0" rIns="0" tIns="0" bIns="0">
            <a:spAutoFit/>
          </a:bodyPr>
          <a:lstStyle/>
          <a:p>
            <a:pPr algn="l"/>
            <a:r>
              <a:rPr sz="590" b="0">
                <a:solidFill>
                  <a:srgbClr val="000000"/>
                </a:solidFill>
                <a:latin typeface="Arial"/>
              </a:rPr>
              <a:t>Annualized Volatility: Measures how dispersed daily fund returns are and annualizes the result using 252 trading days. Higher volatility indicates a wider range of historical returns.</a:t>
            </a:r>
          </a:p>
        </p:txBody>
      </p:sp>
      <p:sp>
        <p:nvSpPr>
          <p:cNvPr id="6" name="TextBox 5"/>
          <p:cNvSpPr txBox="1"/>
          <p:nvPr/>
        </p:nvSpPr>
        <p:spPr>
          <a:xfrm>
            <a:off x="384048" y="1993392"/>
            <a:ext cx="3246120" cy="484632"/>
          </a:xfrm>
          <a:prstGeom prst="rect">
            <a:avLst/>
          </a:prstGeom>
          <a:noFill/>
        </p:spPr>
        <p:txBody>
          <a:bodyPr wrap="square" anchor="t" lIns="0" rIns="0" tIns="0" bIns="0">
            <a:spAutoFit/>
          </a:bodyPr>
          <a:lstStyle/>
          <a:p>
            <a:pPr algn="l"/>
            <a:r>
              <a:rPr sz="590" b="0">
                <a:solidFill>
                  <a:srgbClr val="000000"/>
                </a:solidFill>
                <a:latin typeface="Arial"/>
              </a:rPr>
              <a:t>Sharpe Ratio: Measures historical excess return relative to volatility. The calculation uses the risk-free rate selected in the application.</a:t>
            </a:r>
          </a:p>
        </p:txBody>
      </p:sp>
      <p:sp>
        <p:nvSpPr>
          <p:cNvPr id="7" name="TextBox 6"/>
          <p:cNvSpPr txBox="1"/>
          <p:nvPr/>
        </p:nvSpPr>
        <p:spPr>
          <a:xfrm>
            <a:off x="384048" y="2523744"/>
            <a:ext cx="3246120" cy="484632"/>
          </a:xfrm>
          <a:prstGeom prst="rect">
            <a:avLst/>
          </a:prstGeom>
          <a:noFill/>
        </p:spPr>
        <p:txBody>
          <a:bodyPr wrap="square" anchor="t" lIns="0" rIns="0" tIns="0" bIns="0">
            <a:spAutoFit/>
          </a:bodyPr>
          <a:lstStyle/>
          <a:p>
            <a:pPr algn="l"/>
            <a:r>
              <a:rPr sz="590" b="0">
                <a:solidFill>
                  <a:srgbClr val="000000"/>
                </a:solidFill>
                <a:latin typeface="Arial"/>
              </a:rPr>
              <a:t>Maximum Drawdown: Measures the largest historical decline from a previous NAV peak during the selected measurement period.</a:t>
            </a:r>
          </a:p>
        </p:txBody>
      </p:sp>
      <p:sp>
        <p:nvSpPr>
          <p:cNvPr id="8" name="TextBox 7"/>
          <p:cNvSpPr txBox="1"/>
          <p:nvPr/>
        </p:nvSpPr>
        <p:spPr>
          <a:xfrm>
            <a:off x="384048" y="3054096"/>
            <a:ext cx="3246120" cy="484632"/>
          </a:xfrm>
          <a:prstGeom prst="rect">
            <a:avLst/>
          </a:prstGeom>
          <a:noFill/>
        </p:spPr>
        <p:txBody>
          <a:bodyPr wrap="square" anchor="t" lIns="0" rIns="0" tIns="0" bIns="0">
            <a:spAutoFit/>
          </a:bodyPr>
          <a:lstStyle/>
          <a:p>
            <a:pPr algn="l"/>
            <a:r>
              <a:rPr sz="590" b="0">
                <a:solidFill>
                  <a:srgbClr val="000000"/>
                </a:solidFill>
                <a:latin typeface="Arial"/>
              </a:rPr>
              <a:t>Beta: Measures the sensitivity of fund returns to benchmark returns. A beta of 1 indicates similar historical sensitivity to the benchmark.</a:t>
            </a:r>
          </a:p>
        </p:txBody>
      </p:sp>
      <p:sp>
        <p:nvSpPr>
          <p:cNvPr id="9" name="TextBox 8"/>
          <p:cNvSpPr txBox="1"/>
          <p:nvPr/>
        </p:nvSpPr>
        <p:spPr>
          <a:xfrm>
            <a:off x="3858768" y="1463040"/>
            <a:ext cx="3246120" cy="484632"/>
          </a:xfrm>
          <a:prstGeom prst="rect">
            <a:avLst/>
          </a:prstGeom>
          <a:noFill/>
        </p:spPr>
        <p:txBody>
          <a:bodyPr wrap="square" anchor="t" lIns="0" rIns="0" tIns="0" bIns="0">
            <a:spAutoFit/>
          </a:bodyPr>
          <a:lstStyle/>
          <a:p>
            <a:pPr algn="l"/>
            <a:r>
              <a:rPr sz="590" b="0">
                <a:solidFill>
                  <a:srgbClr val="000000"/>
                </a:solidFill>
                <a:latin typeface="Arial"/>
              </a:rPr>
              <a:t>Tracking Error: Measures the annualized standard deviation of the difference between fund returns and benchmark returns.</a:t>
            </a:r>
          </a:p>
        </p:txBody>
      </p:sp>
      <p:sp>
        <p:nvSpPr>
          <p:cNvPr id="10" name="TextBox 9"/>
          <p:cNvSpPr txBox="1"/>
          <p:nvPr/>
        </p:nvSpPr>
        <p:spPr>
          <a:xfrm>
            <a:off x="3858768" y="1993392"/>
            <a:ext cx="3246120" cy="484632"/>
          </a:xfrm>
          <a:prstGeom prst="rect">
            <a:avLst/>
          </a:prstGeom>
          <a:noFill/>
        </p:spPr>
        <p:txBody>
          <a:bodyPr wrap="square" anchor="t" lIns="0" rIns="0" tIns="0" bIns="0">
            <a:spAutoFit/>
          </a:bodyPr>
          <a:lstStyle/>
          <a:p>
            <a:pPr algn="l"/>
            <a:r>
              <a:rPr sz="590" b="0">
                <a:solidFill>
                  <a:srgbClr val="000000"/>
                </a:solidFill>
                <a:latin typeface="Arial"/>
              </a:rPr>
              <a:t>Net Assets of Fund: The latest available assets-under-management value on or before the selected fact-sheet reporting date.</a:t>
            </a:r>
          </a:p>
        </p:txBody>
      </p:sp>
      <p:sp>
        <p:nvSpPr>
          <p:cNvPr id="11" name="TextBox 10"/>
          <p:cNvSpPr txBox="1"/>
          <p:nvPr/>
        </p:nvSpPr>
        <p:spPr>
          <a:xfrm>
            <a:off x="3858768" y="2523744"/>
            <a:ext cx="3246120" cy="484632"/>
          </a:xfrm>
          <a:prstGeom prst="rect">
            <a:avLst/>
          </a:prstGeom>
          <a:noFill/>
        </p:spPr>
        <p:txBody>
          <a:bodyPr wrap="square" anchor="t" lIns="0" rIns="0" tIns="0" bIns="0">
            <a:spAutoFit/>
          </a:bodyPr>
          <a:lstStyle/>
          <a:p>
            <a:pPr algn="l"/>
            <a:r>
              <a:rPr sz="590" b="0">
                <a:solidFill>
                  <a:srgbClr val="000000"/>
                </a:solidFill>
                <a:latin typeface="Arial"/>
              </a:rPr>
              <a:t>Number of Holdings: The number of portfolio positions in the selected holdings snapshot, excluding cash by default.</a:t>
            </a:r>
          </a:p>
        </p:txBody>
      </p:sp>
      <p:cxnSp>
        <p:nvCxnSpPr>
          <p:cNvPr id="12" name="Connector 11"/>
          <p:cNvCxnSpPr/>
          <p:nvPr/>
        </p:nvCxnSpPr>
        <p:spPr>
          <a:xfrm>
            <a:off x="384048" y="3630168"/>
            <a:ext cx="6793992" cy="0"/>
          </a:xfrm>
          <a:prstGeom prst="line">
            <a:avLst/>
          </a:prstGeom>
          <a:ln w="6350">
            <a:solidFill>
              <a:srgbClr val="77777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4048" y="3758184"/>
            <a:ext cx="3246120" cy="201168"/>
          </a:xfrm>
          <a:prstGeom prst="rect">
            <a:avLst/>
          </a:prstGeom>
          <a:noFill/>
        </p:spPr>
        <p:txBody>
          <a:bodyPr wrap="square" anchor="t" lIns="0" rIns="0" tIns="0" bIns="0">
            <a:spAutoFit/>
          </a:bodyPr>
          <a:lstStyle/>
          <a:p>
            <a:pPr algn="l"/>
            <a:r>
              <a:rPr sz="819" b="1">
                <a:solidFill>
                  <a:srgbClr val="000000"/>
                </a:solidFill>
                <a:latin typeface="Arial"/>
              </a:rPr>
              <a:t>SECTOR ALLOCATION (%)</a:t>
            </a:r>
          </a:p>
        </p:txBody>
      </p:sp>
      <p:graphicFrame>
        <p:nvGraphicFramePr>
          <p:cNvPr id="14" name="Table 13"/>
          <p:cNvGraphicFramePr>
            <a:graphicFrameLocks noGrp="1"/>
          </p:cNvGraphicFramePr>
          <p:nvPr/>
        </p:nvGraphicFramePr>
        <p:xfrm>
          <a:off x="384048" y="4005072"/>
          <a:ext cx="3246119" cy="1609344"/>
        </p:xfrm>
        <a:graphic>
          <a:graphicData uri="http://schemas.openxmlformats.org/drawingml/2006/table">
            <a:tbl>
              <a:tblPr firstRow="1" bandRow="1">
                <a:tableStyleId>{5C22544A-7EE6-4342-B048-85BDC9FD1C3A}</a:tableStyleId>
              </a:tblPr>
              <a:tblGrid>
                <a:gridCol w="2337206"/>
                <a:gridCol w="908913"/>
              </a:tblGrid>
              <a:tr h="201168">
                <a:tc>
                  <a:txBody>
                    <a:bodyPr wrap="square"/>
                    <a:lstStyle/>
                    <a:p>
                      <a:pPr algn="l"/>
                      <a:r>
                        <a:rPr sz="590" b="0">
                          <a:solidFill>
                            <a:srgbClr val="000000"/>
                          </a:solidFill>
                          <a:latin typeface="Arial"/>
                        </a:rPr>
                        <a:t>Technology</a:t>
                      </a:r>
                    </a:p>
                  </a:txBody>
                  <a:tcPr marL="25400" marR="25400" marT="15240" marB="15240">
                    <a:solidFill>
                      <a:srgbClr val="FFFFFF"/>
                    </a:solidFill>
                  </a:tcPr>
                </a:tc>
                <a:tc>
                  <a:txBody>
                    <a:bodyPr wrap="square"/>
                    <a:lstStyle/>
                    <a:p>
                      <a:pPr algn="r"/>
                      <a:r>
                        <a:rPr sz="590" b="0">
                          <a:solidFill>
                            <a:srgbClr val="000000"/>
                          </a:solidFill>
                          <a:latin typeface="Arial"/>
                        </a:rPr>
                        <a:t>22.70%</a:t>
                      </a:r>
                    </a:p>
                  </a:txBody>
                  <a:tcPr marL="25400" marR="25400" marT="15240" marB="15240">
                    <a:solidFill>
                      <a:srgbClr val="FFFFFF"/>
                    </a:solidFill>
                  </a:tcPr>
                </a:tc>
              </a:tr>
              <a:tr h="201168">
                <a:tc>
                  <a:txBody>
                    <a:bodyPr wrap="square"/>
                    <a:lstStyle/>
                    <a:p>
                      <a:pPr algn="l"/>
                      <a:r>
                        <a:rPr sz="590" b="0">
                          <a:solidFill>
                            <a:srgbClr val="000000"/>
                          </a:solidFill>
                          <a:latin typeface="Arial"/>
                        </a:rPr>
                        <a:t>Other</a:t>
                      </a:r>
                    </a:p>
                  </a:txBody>
                  <a:tcPr marL="25400" marR="25400" marT="15240" marB="15240">
                    <a:solidFill>
                      <a:srgbClr val="FFFFFF"/>
                    </a:solidFill>
                  </a:tcPr>
                </a:tc>
                <a:tc>
                  <a:txBody>
                    <a:bodyPr wrap="square"/>
                    <a:lstStyle/>
                    <a:p>
                      <a:pPr algn="r"/>
                      <a:r>
                        <a:rPr sz="590" b="0">
                          <a:solidFill>
                            <a:srgbClr val="000000"/>
                          </a:solidFill>
                          <a:latin typeface="Arial"/>
                        </a:rPr>
                        <a:t>17.50%</a:t>
                      </a:r>
                    </a:p>
                  </a:txBody>
                  <a:tcPr marL="25400" marR="25400" marT="15240" marB="15240">
                    <a:solidFill>
                      <a:srgbClr val="FFFFFF"/>
                    </a:solidFill>
                  </a:tcPr>
                </a:tc>
              </a:tr>
              <a:tr h="201168">
                <a:tc>
                  <a:txBody>
                    <a:bodyPr wrap="square"/>
                    <a:lstStyle/>
                    <a:p>
                      <a:pPr algn="l"/>
                      <a:r>
                        <a:rPr sz="590" b="0">
                          <a:solidFill>
                            <a:srgbClr val="000000"/>
                          </a:solidFill>
                          <a:latin typeface="Arial"/>
                        </a:rPr>
                        <a:t>Cash</a:t>
                      </a:r>
                    </a:p>
                  </a:txBody>
                  <a:tcPr marL="25400" marR="25400" marT="15240" marB="15240">
                    <a:solidFill>
                      <a:srgbClr val="FFFFFF"/>
                    </a:solidFill>
                  </a:tcPr>
                </a:tc>
                <a:tc>
                  <a:txBody>
                    <a:bodyPr wrap="square"/>
                    <a:lstStyle/>
                    <a:p>
                      <a:pPr algn="r"/>
                      <a:r>
                        <a:rPr sz="590" b="0">
                          <a:solidFill>
                            <a:srgbClr val="000000"/>
                          </a:solidFill>
                          <a:latin typeface="Arial"/>
                        </a:rPr>
                        <a:t>12.30%</a:t>
                      </a:r>
                    </a:p>
                  </a:txBody>
                  <a:tcPr marL="25400" marR="25400" marT="15240" marB="15240">
                    <a:solidFill>
                      <a:srgbClr val="FFFFFF"/>
                    </a:solidFill>
                  </a:tcPr>
                </a:tc>
              </a:tr>
              <a:tr h="201168">
                <a:tc>
                  <a:txBody>
                    <a:bodyPr wrap="square"/>
                    <a:lstStyle/>
                    <a:p>
                      <a:pPr algn="l"/>
                      <a:r>
                        <a:rPr sz="590" b="0">
                          <a:solidFill>
                            <a:srgbClr val="000000"/>
                          </a:solidFill>
                          <a:latin typeface="Arial"/>
                        </a:rPr>
                        <a:t>Healthcare</a:t>
                      </a:r>
                    </a:p>
                  </a:txBody>
                  <a:tcPr marL="25400" marR="25400" marT="15240" marB="15240">
                    <a:solidFill>
                      <a:srgbClr val="FFFFFF"/>
                    </a:solidFill>
                  </a:tcPr>
                </a:tc>
                <a:tc>
                  <a:txBody>
                    <a:bodyPr wrap="square"/>
                    <a:lstStyle/>
                    <a:p>
                      <a:pPr algn="r"/>
                      <a:r>
                        <a:rPr sz="590" b="0">
                          <a:solidFill>
                            <a:srgbClr val="000000"/>
                          </a:solidFill>
                          <a:latin typeface="Arial"/>
                        </a:rPr>
                        <a:t>12.10%</a:t>
                      </a:r>
                    </a:p>
                  </a:txBody>
                  <a:tcPr marL="25400" marR="25400" marT="15240" marB="15240">
                    <a:solidFill>
                      <a:srgbClr val="FFFFFF"/>
                    </a:solidFill>
                  </a:tcPr>
                </a:tc>
              </a:tr>
              <a:tr h="201168">
                <a:tc>
                  <a:txBody>
                    <a:bodyPr wrap="square"/>
                    <a:lstStyle/>
                    <a:p>
                      <a:pPr algn="l"/>
                      <a:r>
                        <a:rPr sz="590" b="0">
                          <a:solidFill>
                            <a:srgbClr val="000000"/>
                          </a:solidFill>
                          <a:latin typeface="Arial"/>
                        </a:rPr>
                        <a:t>Financials</a:t>
                      </a:r>
                    </a:p>
                  </a:txBody>
                  <a:tcPr marL="25400" marR="25400" marT="15240" marB="15240">
                    <a:solidFill>
                      <a:srgbClr val="FFFFFF"/>
                    </a:solidFill>
                  </a:tcPr>
                </a:tc>
                <a:tc>
                  <a:txBody>
                    <a:bodyPr wrap="square"/>
                    <a:lstStyle/>
                    <a:p>
                      <a:pPr algn="r"/>
                      <a:r>
                        <a:rPr sz="590" b="0">
                          <a:solidFill>
                            <a:srgbClr val="000000"/>
                          </a:solidFill>
                          <a:latin typeface="Arial"/>
                        </a:rPr>
                        <a:t>11.60%</a:t>
                      </a:r>
                    </a:p>
                  </a:txBody>
                  <a:tcPr marL="25400" marR="25400" marT="15240" marB="15240">
                    <a:solidFill>
                      <a:srgbClr val="FFFFFF"/>
                    </a:solidFill>
                  </a:tcPr>
                </a:tc>
              </a:tr>
              <a:tr h="201168">
                <a:tc>
                  <a:txBody>
                    <a:bodyPr wrap="square"/>
                    <a:lstStyle/>
                    <a:p>
                      <a:pPr algn="l"/>
                      <a:r>
                        <a:rPr sz="590" b="0">
                          <a:solidFill>
                            <a:srgbClr val="000000"/>
                          </a:solidFill>
                          <a:latin typeface="Arial"/>
                        </a:rPr>
                        <a:t>Industrials</a:t>
                      </a:r>
                    </a:p>
                  </a:txBody>
                  <a:tcPr marL="25400" marR="25400" marT="15240" marB="15240">
                    <a:solidFill>
                      <a:srgbClr val="FFFFFF"/>
                    </a:solidFill>
                  </a:tcPr>
                </a:tc>
                <a:tc>
                  <a:txBody>
                    <a:bodyPr wrap="square"/>
                    <a:lstStyle/>
                    <a:p>
                      <a:pPr algn="r"/>
                      <a:r>
                        <a:rPr sz="590" b="0">
                          <a:solidFill>
                            <a:srgbClr val="000000"/>
                          </a:solidFill>
                          <a:latin typeface="Arial"/>
                        </a:rPr>
                        <a:t>11.30%</a:t>
                      </a:r>
                    </a:p>
                  </a:txBody>
                  <a:tcPr marL="25400" marR="25400" marT="15240" marB="15240">
                    <a:solidFill>
                      <a:srgbClr val="FFFFFF"/>
                    </a:solidFill>
                  </a:tcPr>
                </a:tc>
              </a:tr>
              <a:tr h="201168">
                <a:tc>
                  <a:txBody>
                    <a:bodyPr wrap="square"/>
                    <a:lstStyle/>
                    <a:p>
                      <a:pPr algn="l"/>
                      <a:r>
                        <a:rPr sz="590" b="0">
                          <a:solidFill>
                            <a:srgbClr val="000000"/>
                          </a:solidFill>
                          <a:latin typeface="Arial"/>
                        </a:rPr>
                        <a:t>Consumer Discretionary</a:t>
                      </a:r>
                    </a:p>
                  </a:txBody>
                  <a:tcPr marL="25400" marR="25400" marT="15240" marB="15240">
                    <a:solidFill>
                      <a:srgbClr val="FFFFFF"/>
                    </a:solidFill>
                  </a:tcPr>
                </a:tc>
                <a:tc>
                  <a:txBody>
                    <a:bodyPr wrap="square"/>
                    <a:lstStyle/>
                    <a:p>
                      <a:pPr algn="r"/>
                      <a:r>
                        <a:rPr sz="590" b="0">
                          <a:solidFill>
                            <a:srgbClr val="000000"/>
                          </a:solidFill>
                          <a:latin typeface="Arial"/>
                        </a:rPr>
                        <a:t>6.80%</a:t>
                      </a:r>
                    </a:p>
                  </a:txBody>
                  <a:tcPr marL="25400" marR="25400" marT="15240" marB="15240">
                    <a:solidFill>
                      <a:srgbClr val="FFFFFF"/>
                    </a:solidFill>
                  </a:tcPr>
                </a:tc>
              </a:tr>
              <a:tr h="201168">
                <a:tc>
                  <a:txBody>
                    <a:bodyPr wrap="square"/>
                    <a:lstStyle/>
                    <a:p>
                      <a:pPr algn="l"/>
                      <a:r>
                        <a:rPr sz="590" b="0">
                          <a:solidFill>
                            <a:srgbClr val="000000"/>
                          </a:solidFill>
                          <a:latin typeface="Arial"/>
                        </a:rPr>
                        <a:t>Utilities</a:t>
                      </a:r>
                    </a:p>
                  </a:txBody>
                  <a:tcPr marL="25400" marR="25400" marT="15240" marB="15240">
                    <a:solidFill>
                      <a:srgbClr val="FFFFFF"/>
                    </a:solidFill>
                  </a:tcPr>
                </a:tc>
                <a:tc>
                  <a:txBody>
                    <a:bodyPr wrap="square"/>
                    <a:lstStyle/>
                    <a:p>
                      <a:pPr algn="r"/>
                      <a:r>
                        <a:rPr sz="590" b="0">
                          <a:solidFill>
                            <a:srgbClr val="000000"/>
                          </a:solidFill>
                          <a:latin typeface="Arial"/>
                        </a:rPr>
                        <a:t>5.70%</a:t>
                      </a:r>
                    </a:p>
                  </a:txBody>
                  <a:tcPr marL="25400" marR="25400" marT="15240" marB="15240">
                    <a:solidFill>
                      <a:srgbClr val="FFFFFF"/>
                    </a:solidFill>
                  </a:tcPr>
                </a:tc>
              </a:tr>
            </a:tbl>
          </a:graphicData>
        </a:graphic>
      </p:graphicFrame>
      <p:sp>
        <p:nvSpPr>
          <p:cNvPr id="15" name="TextBox 14"/>
          <p:cNvSpPr txBox="1"/>
          <p:nvPr/>
        </p:nvSpPr>
        <p:spPr>
          <a:xfrm>
            <a:off x="3858768" y="3758184"/>
            <a:ext cx="3246120" cy="201168"/>
          </a:xfrm>
          <a:prstGeom prst="rect">
            <a:avLst/>
          </a:prstGeom>
          <a:noFill/>
        </p:spPr>
        <p:txBody>
          <a:bodyPr wrap="square" anchor="t" lIns="0" rIns="0" tIns="0" bIns="0">
            <a:spAutoFit/>
          </a:bodyPr>
          <a:lstStyle/>
          <a:p>
            <a:pPr algn="l"/>
            <a:r>
              <a:rPr sz="819" b="1">
                <a:solidFill>
                  <a:srgbClr val="000000"/>
                </a:solidFill>
                <a:latin typeface="Arial"/>
              </a:rPr>
              <a:t>COUNTRY ALLOCATION (%)</a:t>
            </a:r>
          </a:p>
        </p:txBody>
      </p:sp>
      <p:graphicFrame>
        <p:nvGraphicFramePr>
          <p:cNvPr id="16" name="Table 15"/>
          <p:cNvGraphicFramePr>
            <a:graphicFrameLocks noGrp="1"/>
          </p:cNvGraphicFramePr>
          <p:nvPr/>
        </p:nvGraphicFramePr>
        <p:xfrm>
          <a:off x="3858768" y="4005072"/>
          <a:ext cx="3246119" cy="1810512"/>
        </p:xfrm>
        <a:graphic>
          <a:graphicData uri="http://schemas.openxmlformats.org/drawingml/2006/table">
            <a:tbl>
              <a:tblPr firstRow="1" bandRow="1">
                <a:tableStyleId>{5C22544A-7EE6-4342-B048-85BDC9FD1C3A}</a:tableStyleId>
              </a:tblPr>
              <a:tblGrid>
                <a:gridCol w="2337206"/>
                <a:gridCol w="908913"/>
              </a:tblGrid>
              <a:tr h="201168">
                <a:tc>
                  <a:txBody>
                    <a:bodyPr wrap="square"/>
                    <a:lstStyle/>
                    <a:p>
                      <a:pPr algn="l"/>
                      <a:r>
                        <a:rPr sz="590" b="0">
                          <a:solidFill>
                            <a:srgbClr val="000000"/>
                          </a:solidFill>
                          <a:latin typeface="Arial"/>
                        </a:rPr>
                        <a:t>United States</a:t>
                      </a:r>
                    </a:p>
                  </a:txBody>
                  <a:tcPr marL="25400" marR="25400" marT="15240" marB="15240">
                    <a:solidFill>
                      <a:srgbClr val="FFFFFF"/>
                    </a:solidFill>
                  </a:tcPr>
                </a:tc>
                <a:tc>
                  <a:txBody>
                    <a:bodyPr wrap="square"/>
                    <a:lstStyle/>
                    <a:p>
                      <a:pPr algn="r"/>
                      <a:r>
                        <a:rPr sz="590" b="0">
                          <a:solidFill>
                            <a:srgbClr val="000000"/>
                          </a:solidFill>
                          <a:latin typeface="Arial"/>
                        </a:rPr>
                        <a:t>26.60%</a:t>
                      </a:r>
                    </a:p>
                  </a:txBody>
                  <a:tcPr marL="25400" marR="25400" marT="15240" marB="15240">
                    <a:solidFill>
                      <a:srgbClr val="FFFFFF"/>
                    </a:solidFill>
                  </a:tcPr>
                </a:tc>
              </a:tr>
              <a:tr h="201168">
                <a:tc>
                  <a:txBody>
                    <a:bodyPr wrap="square"/>
                    <a:lstStyle/>
                    <a:p>
                      <a:pPr algn="l"/>
                      <a:r>
                        <a:rPr sz="590" b="0">
                          <a:solidFill>
                            <a:srgbClr val="000000"/>
                          </a:solidFill>
                          <a:latin typeface="Arial"/>
                        </a:rPr>
                        <a:t>Other</a:t>
                      </a:r>
                    </a:p>
                  </a:txBody>
                  <a:tcPr marL="25400" marR="25400" marT="15240" marB="15240">
                    <a:solidFill>
                      <a:srgbClr val="FFFFFF"/>
                    </a:solidFill>
                  </a:tcPr>
                </a:tc>
                <a:tc>
                  <a:txBody>
                    <a:bodyPr wrap="square"/>
                    <a:lstStyle/>
                    <a:p>
                      <a:pPr algn="r"/>
                      <a:r>
                        <a:rPr sz="590" b="0">
                          <a:solidFill>
                            <a:srgbClr val="000000"/>
                          </a:solidFill>
                          <a:latin typeface="Arial"/>
                        </a:rPr>
                        <a:t>23.00%</a:t>
                      </a:r>
                    </a:p>
                  </a:txBody>
                  <a:tcPr marL="25400" marR="25400" marT="15240" marB="15240">
                    <a:solidFill>
                      <a:srgbClr val="FFFFFF"/>
                    </a:solidFill>
                  </a:tcPr>
                </a:tc>
              </a:tr>
              <a:tr h="201168">
                <a:tc>
                  <a:txBody>
                    <a:bodyPr wrap="square"/>
                    <a:lstStyle/>
                    <a:p>
                      <a:pPr algn="l"/>
                      <a:r>
                        <a:rPr sz="590" b="0">
                          <a:solidFill>
                            <a:srgbClr val="000000"/>
                          </a:solidFill>
                          <a:latin typeface="Arial"/>
                        </a:rPr>
                        <a:t>Eurozone</a:t>
                      </a:r>
                    </a:p>
                  </a:txBody>
                  <a:tcPr marL="25400" marR="25400" marT="15240" marB="15240">
                    <a:solidFill>
                      <a:srgbClr val="FFFFFF"/>
                    </a:solidFill>
                  </a:tcPr>
                </a:tc>
                <a:tc>
                  <a:txBody>
                    <a:bodyPr wrap="square"/>
                    <a:lstStyle/>
                    <a:p>
                      <a:pPr algn="r"/>
                      <a:r>
                        <a:rPr sz="590" b="0">
                          <a:solidFill>
                            <a:srgbClr val="000000"/>
                          </a:solidFill>
                          <a:latin typeface="Arial"/>
                        </a:rPr>
                        <a:t>12.30%</a:t>
                      </a:r>
                    </a:p>
                  </a:txBody>
                  <a:tcPr marL="25400" marR="25400" marT="15240" marB="15240">
                    <a:solidFill>
                      <a:srgbClr val="FFFFFF"/>
                    </a:solidFill>
                  </a:tcPr>
                </a:tc>
              </a:tr>
              <a:tr h="201168">
                <a:tc>
                  <a:txBody>
                    <a:bodyPr wrap="square"/>
                    <a:lstStyle/>
                    <a:p>
                      <a:pPr algn="l"/>
                      <a:r>
                        <a:rPr sz="590" b="0">
                          <a:solidFill>
                            <a:srgbClr val="000000"/>
                          </a:solidFill>
                          <a:latin typeface="Arial"/>
                        </a:rPr>
                        <a:t>Switzerland</a:t>
                      </a:r>
                    </a:p>
                  </a:txBody>
                  <a:tcPr marL="25400" marR="25400" marT="15240" marB="15240">
                    <a:solidFill>
                      <a:srgbClr val="FFFFFF"/>
                    </a:solidFill>
                  </a:tcPr>
                </a:tc>
                <a:tc>
                  <a:txBody>
                    <a:bodyPr wrap="square"/>
                    <a:lstStyle/>
                    <a:p>
                      <a:pPr algn="r"/>
                      <a:r>
                        <a:rPr sz="590" b="0">
                          <a:solidFill>
                            <a:srgbClr val="000000"/>
                          </a:solidFill>
                          <a:latin typeface="Arial"/>
                        </a:rPr>
                        <a:t>7.40%</a:t>
                      </a:r>
                    </a:p>
                  </a:txBody>
                  <a:tcPr marL="25400" marR="25400" marT="15240" marB="15240">
                    <a:solidFill>
                      <a:srgbClr val="FFFFFF"/>
                    </a:solidFill>
                  </a:tcPr>
                </a:tc>
              </a:tr>
              <a:tr h="201168">
                <a:tc>
                  <a:txBody>
                    <a:bodyPr wrap="square"/>
                    <a:lstStyle/>
                    <a:p>
                      <a:pPr algn="l"/>
                      <a:r>
                        <a:rPr sz="590" b="0">
                          <a:solidFill>
                            <a:srgbClr val="000000"/>
                          </a:solidFill>
                          <a:latin typeface="Arial"/>
                        </a:rPr>
                        <a:t>France</a:t>
                      </a:r>
                    </a:p>
                  </a:txBody>
                  <a:tcPr marL="25400" marR="25400" marT="15240" marB="15240">
                    <a:solidFill>
                      <a:srgbClr val="FFFFFF"/>
                    </a:solidFill>
                  </a:tcPr>
                </a:tc>
                <a:tc>
                  <a:txBody>
                    <a:bodyPr wrap="square"/>
                    <a:lstStyle/>
                    <a:p>
                      <a:pPr algn="r"/>
                      <a:r>
                        <a:rPr sz="590" b="0">
                          <a:solidFill>
                            <a:srgbClr val="000000"/>
                          </a:solidFill>
                          <a:latin typeface="Arial"/>
                        </a:rPr>
                        <a:t>6.80%</a:t>
                      </a:r>
                    </a:p>
                  </a:txBody>
                  <a:tcPr marL="25400" marR="25400" marT="15240" marB="15240">
                    <a:solidFill>
                      <a:srgbClr val="FFFFFF"/>
                    </a:solidFill>
                  </a:tcPr>
                </a:tc>
              </a:tr>
              <a:tr h="201168">
                <a:tc>
                  <a:txBody>
                    <a:bodyPr wrap="square"/>
                    <a:lstStyle/>
                    <a:p>
                      <a:pPr algn="l"/>
                      <a:r>
                        <a:rPr sz="590" b="0">
                          <a:solidFill>
                            <a:srgbClr val="000000"/>
                          </a:solidFill>
                          <a:latin typeface="Arial"/>
                        </a:rPr>
                        <a:t>United Kingdom</a:t>
                      </a:r>
                    </a:p>
                  </a:txBody>
                  <a:tcPr marL="25400" marR="25400" marT="15240" marB="15240">
                    <a:solidFill>
                      <a:srgbClr val="FFFFFF"/>
                    </a:solidFill>
                  </a:tcPr>
                </a:tc>
                <a:tc>
                  <a:txBody>
                    <a:bodyPr wrap="square"/>
                    <a:lstStyle/>
                    <a:p>
                      <a:pPr algn="r"/>
                      <a:r>
                        <a:rPr sz="590" b="0">
                          <a:solidFill>
                            <a:srgbClr val="000000"/>
                          </a:solidFill>
                          <a:latin typeface="Arial"/>
                        </a:rPr>
                        <a:t>6.60%</a:t>
                      </a:r>
                    </a:p>
                  </a:txBody>
                  <a:tcPr marL="25400" marR="25400" marT="15240" marB="15240">
                    <a:solidFill>
                      <a:srgbClr val="FFFFFF"/>
                    </a:solidFill>
                  </a:tcPr>
                </a:tc>
              </a:tr>
              <a:tr h="201168">
                <a:tc>
                  <a:txBody>
                    <a:bodyPr wrap="square"/>
                    <a:lstStyle/>
                    <a:p>
                      <a:pPr algn="l"/>
                      <a:r>
                        <a:rPr sz="590" b="0">
                          <a:solidFill>
                            <a:srgbClr val="000000"/>
                          </a:solidFill>
                          <a:latin typeface="Arial"/>
                        </a:rPr>
                        <a:t>Japan</a:t>
                      </a:r>
                    </a:p>
                  </a:txBody>
                  <a:tcPr marL="25400" marR="25400" marT="15240" marB="15240">
                    <a:solidFill>
                      <a:srgbClr val="FFFFFF"/>
                    </a:solidFill>
                  </a:tcPr>
                </a:tc>
                <a:tc>
                  <a:txBody>
                    <a:bodyPr wrap="square"/>
                    <a:lstStyle/>
                    <a:p>
                      <a:pPr algn="r"/>
                      <a:r>
                        <a:rPr sz="590" b="0">
                          <a:solidFill>
                            <a:srgbClr val="000000"/>
                          </a:solidFill>
                          <a:latin typeface="Arial"/>
                        </a:rPr>
                        <a:t>6.10%</a:t>
                      </a:r>
                    </a:p>
                  </a:txBody>
                  <a:tcPr marL="25400" marR="25400" marT="15240" marB="15240">
                    <a:solidFill>
                      <a:srgbClr val="FFFFFF"/>
                    </a:solidFill>
                  </a:tcPr>
                </a:tc>
              </a:tr>
              <a:tr h="201168">
                <a:tc>
                  <a:txBody>
                    <a:bodyPr wrap="square"/>
                    <a:lstStyle/>
                    <a:p>
                      <a:pPr algn="l"/>
                      <a:r>
                        <a:rPr sz="590" b="0">
                          <a:solidFill>
                            <a:srgbClr val="000000"/>
                          </a:solidFill>
                          <a:latin typeface="Arial"/>
                        </a:rPr>
                        <a:t>Spain</a:t>
                      </a:r>
                    </a:p>
                  </a:txBody>
                  <a:tcPr marL="25400" marR="25400" marT="15240" marB="15240">
                    <a:solidFill>
                      <a:srgbClr val="FFFFFF"/>
                    </a:solidFill>
                  </a:tcPr>
                </a:tc>
                <a:tc>
                  <a:txBody>
                    <a:bodyPr wrap="square"/>
                    <a:lstStyle/>
                    <a:p>
                      <a:pPr algn="r"/>
                      <a:r>
                        <a:rPr sz="590" b="0">
                          <a:solidFill>
                            <a:srgbClr val="000000"/>
                          </a:solidFill>
                          <a:latin typeface="Arial"/>
                        </a:rPr>
                        <a:t>5.70%</a:t>
                      </a:r>
                    </a:p>
                  </a:txBody>
                  <a:tcPr marL="25400" marR="25400" marT="15240" marB="15240">
                    <a:solidFill>
                      <a:srgbClr val="FFFFFF"/>
                    </a:solidFill>
                  </a:tcPr>
                </a:tc>
              </a:tr>
              <a:tr h="201168">
                <a:tc>
                  <a:txBody>
                    <a:bodyPr wrap="square"/>
                    <a:lstStyle/>
                    <a:p>
                      <a:pPr algn="l"/>
                      <a:r>
                        <a:rPr sz="590" b="0">
                          <a:solidFill>
                            <a:srgbClr val="000000"/>
                          </a:solidFill>
                          <a:latin typeface="Arial"/>
                        </a:rPr>
                        <a:t>Taiwan</a:t>
                      </a:r>
                    </a:p>
                  </a:txBody>
                  <a:tcPr marL="25400" marR="25400" marT="15240" marB="15240">
                    <a:solidFill>
                      <a:srgbClr val="FFFFFF"/>
                    </a:solidFill>
                  </a:tcPr>
                </a:tc>
                <a:tc>
                  <a:txBody>
                    <a:bodyPr wrap="square"/>
                    <a:lstStyle/>
                    <a:p>
                      <a:pPr algn="r"/>
                      <a:r>
                        <a:rPr sz="590" b="0">
                          <a:solidFill>
                            <a:srgbClr val="000000"/>
                          </a:solidFill>
                          <a:latin typeface="Arial"/>
                        </a:rPr>
                        <a:t>5.50%</a:t>
                      </a:r>
                    </a:p>
                  </a:txBody>
                  <a:tcPr marL="25400" marR="25400" marT="15240" marB="15240">
                    <a:solidFill>
                      <a:srgbClr val="FFFFFF"/>
                    </a:solidFill>
                  </a:tcPr>
                </a:tc>
              </a:tr>
            </a:tbl>
          </a:graphicData>
        </a:graphic>
      </p:graphicFrame>
      <p:cxnSp>
        <p:nvCxnSpPr>
          <p:cNvPr id="17" name="Connector 16"/>
          <p:cNvCxnSpPr/>
          <p:nvPr/>
        </p:nvCxnSpPr>
        <p:spPr>
          <a:xfrm>
            <a:off x="384048" y="5998464"/>
            <a:ext cx="6793992" cy="0"/>
          </a:xfrm>
          <a:prstGeom prst="line">
            <a:avLst/>
          </a:prstGeom>
          <a:ln w="6350">
            <a:solidFill>
              <a:srgbClr val="77777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84048" y="6126480"/>
            <a:ext cx="6793992" cy="201168"/>
          </a:xfrm>
          <a:prstGeom prst="rect">
            <a:avLst/>
          </a:prstGeom>
          <a:noFill/>
        </p:spPr>
        <p:txBody>
          <a:bodyPr wrap="square" anchor="t" lIns="0" rIns="0" tIns="0" bIns="0">
            <a:spAutoFit/>
          </a:bodyPr>
          <a:lstStyle/>
          <a:p>
            <a:pPr algn="l"/>
            <a:r>
              <a:rPr sz="819" b="1">
                <a:solidFill>
                  <a:srgbClr val="000000"/>
                </a:solidFill>
                <a:latin typeface="Arial"/>
              </a:rPr>
              <a:t>IMPORTANT INFORMATION:</a:t>
            </a:r>
          </a:p>
        </p:txBody>
      </p:sp>
      <p:sp>
        <p:nvSpPr>
          <p:cNvPr id="19" name="TextBox 18"/>
          <p:cNvSpPr txBox="1"/>
          <p:nvPr/>
        </p:nvSpPr>
        <p:spPr>
          <a:xfrm>
            <a:off x="384048" y="6373368"/>
            <a:ext cx="6793992" cy="1645920"/>
          </a:xfrm>
          <a:prstGeom prst="rect">
            <a:avLst/>
          </a:prstGeom>
          <a:noFill/>
        </p:spPr>
        <p:txBody>
          <a:bodyPr wrap="square" anchor="t" lIns="0" rIns="0" tIns="0" bIns="0">
            <a:spAutoFit/>
          </a:bodyPr>
          <a:lstStyle/>
          <a:p>
            <a:pPr algn="l"/>
            <a:r>
              <a:rPr sz="560" b="0">
                <a:solidFill>
                  <a:srgbClr val="000000"/>
                </a:solidFill>
                <a:latin typeface="Arial"/>
              </a:rPr>
              <a:t>Performance basis: Net of fees (synthetic demo NAV). Benchmark basis: Total return benchmark (synthetic demo).
This document is a synthetic demonstration of an automated investor-relations reporting workflow. The figures are not actual investment results and are not intended as investment advice, a recommendation, an offer, or a solicitation. Production use should rely on administrator-approved NAV and total-return data, approved benchmark series, validated portfolio holdings, and compliance-approved disclosures.
Past performance does not guarantee future results. Investment return and principal value may fluctuate. Risk statistics are sensitive to the selected measurement period, observation frequency, benchmark methodology, and risk-free rate. Holdings and allocations are subject to change. Users should review all generated documents before external distribution.</a:t>
            </a:r>
          </a:p>
        </p:txBody>
      </p:sp>
      <p:sp>
        <p:nvSpPr>
          <p:cNvPr id="20" name="TextBox 19"/>
          <p:cNvSpPr txBox="1"/>
          <p:nvPr/>
        </p:nvSpPr>
        <p:spPr>
          <a:xfrm>
            <a:off x="356616" y="10369296"/>
            <a:ext cx="4297680" cy="128016"/>
          </a:xfrm>
          <a:prstGeom prst="rect">
            <a:avLst/>
          </a:prstGeom>
          <a:noFill/>
        </p:spPr>
        <p:txBody>
          <a:bodyPr wrap="square" anchor="t" lIns="0" rIns="0" tIns="0" bIns="0">
            <a:spAutoFit/>
          </a:bodyPr>
          <a:lstStyle/>
          <a:p>
            <a:pPr algn="l"/>
            <a:r>
              <a:rPr sz="550" b="0">
                <a:solidFill>
                  <a:srgbClr val="555555"/>
                </a:solidFill>
                <a:latin typeface="Arial"/>
              </a:rPr>
              <a:t>Synthetic demonstration - not for investment use</a:t>
            </a:r>
          </a:p>
        </p:txBody>
      </p:sp>
      <p:sp>
        <p:nvSpPr>
          <p:cNvPr id="21" name="TextBox 20"/>
          <p:cNvSpPr txBox="1"/>
          <p:nvPr/>
        </p:nvSpPr>
        <p:spPr>
          <a:xfrm>
            <a:off x="6400800" y="10369296"/>
            <a:ext cx="804672" cy="128016"/>
          </a:xfrm>
          <a:prstGeom prst="rect">
            <a:avLst/>
          </a:prstGeom>
          <a:noFill/>
        </p:spPr>
        <p:txBody>
          <a:bodyPr wrap="square" anchor="t" lIns="0" rIns="0" tIns="0" bIns="0">
            <a:spAutoFit/>
          </a:bodyPr>
          <a:lstStyle/>
          <a:p>
            <a:pPr algn="r"/>
            <a:r>
              <a:rPr sz="550" b="0">
                <a:solidFill>
                  <a:srgbClr val="555555"/>
                </a:solidFill>
                <a:latin typeface="Arial"/>
              </a:rPr>
              <a:t>Page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