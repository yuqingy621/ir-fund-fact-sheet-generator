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基金</c:v>
                </c:pt>
              </c:strCache>
            </c:strRef>
          </c:tx>
          <c:spPr>
            <a:ln w="17780"/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2019-01</c:v>
                </c:pt>
                <c:pt idx="1">
                  <c:v>2019-02</c:v>
                </c:pt>
                <c:pt idx="2">
                  <c:v>2019-03</c:v>
                </c:pt>
                <c:pt idx="3">
                  <c:v>2019-04</c:v>
                </c:pt>
                <c:pt idx="4">
                  <c:v>2019-05</c:v>
                </c:pt>
                <c:pt idx="5">
                  <c:v>2019-06</c:v>
                </c:pt>
                <c:pt idx="6">
                  <c:v>2019-07</c:v>
                </c:pt>
                <c:pt idx="7">
                  <c:v>2019-08</c:v>
                </c:pt>
                <c:pt idx="8">
                  <c:v>2019-09</c:v>
                </c:pt>
                <c:pt idx="9">
                  <c:v>2019-10</c:v>
                </c:pt>
                <c:pt idx="10">
                  <c:v>2019-11</c:v>
                </c:pt>
                <c:pt idx="11">
                  <c:v>2019-12</c:v>
                </c:pt>
                <c:pt idx="12">
                  <c:v>2020-01</c:v>
                </c:pt>
                <c:pt idx="13">
                  <c:v>2020-02</c:v>
                </c:pt>
                <c:pt idx="14">
                  <c:v>2020-03</c:v>
                </c:pt>
                <c:pt idx="15">
                  <c:v>2020-04</c:v>
                </c:pt>
                <c:pt idx="16">
                  <c:v>2020-05</c:v>
                </c:pt>
                <c:pt idx="17">
                  <c:v>2020-06</c:v>
                </c:pt>
                <c:pt idx="18">
                  <c:v>2020-07</c:v>
                </c:pt>
                <c:pt idx="19">
                  <c:v>2020-08</c:v>
                </c:pt>
                <c:pt idx="20">
                  <c:v>2020-09</c:v>
                </c:pt>
                <c:pt idx="21">
                  <c:v>2020-10</c:v>
                </c:pt>
                <c:pt idx="22">
                  <c:v>2020-11</c:v>
                </c:pt>
                <c:pt idx="23">
                  <c:v>2020-12</c:v>
                </c:pt>
                <c:pt idx="24">
                  <c:v>2021-01</c:v>
                </c:pt>
                <c:pt idx="25">
                  <c:v>2021-02</c:v>
                </c:pt>
                <c:pt idx="26">
                  <c:v>2021-03</c:v>
                </c:pt>
                <c:pt idx="27">
                  <c:v>2021-04</c:v>
                </c:pt>
                <c:pt idx="28">
                  <c:v>2021-05</c:v>
                </c:pt>
                <c:pt idx="29">
                  <c:v>2021-06</c:v>
                </c:pt>
                <c:pt idx="30">
                  <c:v>2021-07</c:v>
                </c:pt>
                <c:pt idx="31">
                  <c:v>2021-08</c:v>
                </c:pt>
                <c:pt idx="32">
                  <c:v>2021-09</c:v>
                </c:pt>
                <c:pt idx="33">
                  <c:v>2021-10</c:v>
                </c:pt>
                <c:pt idx="34">
                  <c:v>2021-11</c:v>
                </c:pt>
                <c:pt idx="35">
                  <c:v>2021-12</c:v>
                </c:pt>
                <c:pt idx="36">
                  <c:v>2022-01</c:v>
                </c:pt>
                <c:pt idx="37">
                  <c:v>2022-02</c:v>
                </c:pt>
                <c:pt idx="38">
                  <c:v>2022-03</c:v>
                </c:pt>
                <c:pt idx="39">
                  <c:v>2022-04</c:v>
                </c:pt>
                <c:pt idx="40">
                  <c:v>2022-05</c:v>
                </c:pt>
                <c:pt idx="41">
                  <c:v>2022-06</c:v>
                </c:pt>
                <c:pt idx="42">
                  <c:v>2022-07</c:v>
                </c:pt>
                <c:pt idx="43">
                  <c:v>2022-08</c:v>
                </c:pt>
                <c:pt idx="44">
                  <c:v>2022-09</c:v>
                </c:pt>
                <c:pt idx="45">
                  <c:v>2022-10</c:v>
                </c:pt>
                <c:pt idx="46">
                  <c:v>2022-11</c:v>
                </c:pt>
                <c:pt idx="47">
                  <c:v>2022-12</c:v>
                </c:pt>
                <c:pt idx="48">
                  <c:v>2023-01</c:v>
                </c:pt>
                <c:pt idx="49">
                  <c:v>2023-02</c:v>
                </c:pt>
                <c:pt idx="50">
                  <c:v>2023-03</c:v>
                </c:pt>
                <c:pt idx="51">
                  <c:v>2023-04</c:v>
                </c:pt>
                <c:pt idx="52">
                  <c:v>2023-05</c:v>
                </c:pt>
                <c:pt idx="53">
                  <c:v>2023-06</c:v>
                </c:pt>
                <c:pt idx="54">
                  <c:v>2023-07</c:v>
                </c:pt>
                <c:pt idx="55">
                  <c:v>2023-08</c:v>
                </c:pt>
                <c:pt idx="56">
                  <c:v>2023-09</c:v>
                </c:pt>
                <c:pt idx="57">
                  <c:v>2023-10</c:v>
                </c:pt>
                <c:pt idx="58">
                  <c:v>2023-11</c:v>
                </c:pt>
                <c:pt idx="59">
                  <c:v>2023-12</c:v>
                </c:pt>
                <c:pt idx="60">
                  <c:v>2024-01</c:v>
                </c:pt>
                <c:pt idx="61">
                  <c:v>2024-02</c:v>
                </c:pt>
                <c:pt idx="62">
                  <c:v>2024-03</c:v>
                </c:pt>
                <c:pt idx="63">
                  <c:v>2024-04</c:v>
                </c:pt>
                <c:pt idx="64">
                  <c:v>2024-05</c:v>
                </c:pt>
                <c:pt idx="65">
                  <c:v>2024-06</c:v>
                </c:pt>
                <c:pt idx="66">
                  <c:v>2024-07</c:v>
                </c:pt>
                <c:pt idx="67">
                  <c:v>2024-08</c:v>
                </c:pt>
                <c:pt idx="68">
                  <c:v>2024-09</c:v>
                </c:pt>
                <c:pt idx="69">
                  <c:v>2024-10</c:v>
                </c:pt>
                <c:pt idx="70">
                  <c:v>2024-11</c:v>
                </c:pt>
                <c:pt idx="71">
                  <c:v>2024-12</c:v>
                </c:pt>
                <c:pt idx="72">
                  <c:v>2025-01</c:v>
                </c:pt>
                <c:pt idx="73">
                  <c:v>2025-02</c:v>
                </c:pt>
                <c:pt idx="74">
                  <c:v>2025-03</c:v>
                </c:pt>
                <c:pt idx="75">
                  <c:v>2025-04</c:v>
                </c:pt>
                <c:pt idx="76">
                  <c:v>2025-05</c:v>
                </c:pt>
                <c:pt idx="77">
                  <c:v>2025-06</c:v>
                </c:pt>
                <c:pt idx="78">
                  <c:v>2025-07</c:v>
                </c:pt>
                <c:pt idx="79">
                  <c:v>2025-08</c:v>
                </c:pt>
                <c:pt idx="80">
                  <c:v>2025-09</c:v>
                </c:pt>
                <c:pt idx="81">
                  <c:v>2025-10</c:v>
                </c:pt>
                <c:pt idx="82">
                  <c:v>2025-11</c:v>
                </c:pt>
                <c:pt idx="83">
                  <c:v>2025-12</c:v>
                </c:pt>
                <c:pt idx="84">
                  <c:v>2026-01</c:v>
                </c:pt>
                <c:pt idx="85">
                  <c:v>2026-02</c:v>
                </c:pt>
                <c:pt idx="86">
                  <c:v>2026-03</c:v>
                </c:pt>
                <c:pt idx="87">
                  <c:v>2026-04</c:v>
                </c:pt>
                <c:pt idx="88">
                  <c:v>2026-05</c:v>
                </c:pt>
                <c:pt idx="89">
                  <c:v>2026-06</c:v>
                </c:pt>
              </c:strCache>
            </c: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10085.558128022163</c:v>
                </c:pt>
                <c:pt idx="1">
                  <c:v>10182.337322045594</c:v>
                </c:pt>
                <c:pt idx="2">
                  <c:v>10209.879938594167</c:v>
                </c:pt>
                <c:pt idx="3">
                  <c:v>10306.089078462453</c:v>
                </c:pt>
                <c:pt idx="4">
                  <c:v>10359.424145293804</c:v>
                </c:pt>
                <c:pt idx="5">
                  <c:v>10445.772348373095</c:v>
                </c:pt>
                <c:pt idx="6">
                  <c:v>10505.488021362029</c:v>
                </c:pt>
                <c:pt idx="7">
                  <c:v>10651.69191073152</c:v>
                </c:pt>
                <c:pt idx="8">
                  <c:v>10731.309474400068</c:v>
                </c:pt>
                <c:pt idx="9">
                  <c:v>10779.72407378701</c:v>
                </c:pt>
                <c:pt idx="10">
                  <c:v>10837.439556757892</c:v>
                </c:pt>
                <c:pt idx="11">
                  <c:v>10857.971507293194</c:v>
                </c:pt>
                <c:pt idx="12">
                  <c:v>10932.378575964716</c:v>
                </c:pt>
                <c:pt idx="13">
                  <c:v>10606.42761062301</c:v>
                </c:pt>
                <c:pt idx="14">
                  <c:v>9825.363409523905</c:v>
                </c:pt>
                <c:pt idx="15">
                  <c:v>9908.431300973592</c:v>
                </c:pt>
                <c:pt idx="16">
                  <c:v>9973.377470859732</c:v>
                </c:pt>
                <c:pt idx="17">
                  <c:v>10042.634050234772</c:v>
                </c:pt>
                <c:pt idx="18">
                  <c:v>10134.522779664068</c:v>
                </c:pt>
                <c:pt idx="19">
                  <c:v>10220.180917187134</c:v>
                </c:pt>
                <c:pt idx="20">
                  <c:v>10336.741990489098</c:v>
                </c:pt>
                <c:pt idx="21">
                  <c:v>10408.278786484716</c:v>
                </c:pt>
                <c:pt idx="22">
                  <c:v>10477.785389612014</c:v>
                </c:pt>
                <c:pt idx="23">
                  <c:v>10591.166160785275</c:v>
                </c:pt>
                <c:pt idx="24">
                  <c:v>10654.682194808507</c:v>
                </c:pt>
                <c:pt idx="25">
                  <c:v>10720.698466354304</c:v>
                </c:pt>
                <c:pt idx="26">
                  <c:v>10799.375940714368</c:v>
                </c:pt>
                <c:pt idx="27">
                  <c:v>10901.015596481666</c:v>
                </c:pt>
                <c:pt idx="28">
                  <c:v>11076.832299068412</c:v>
                </c:pt>
                <c:pt idx="29">
                  <c:v>11185.44261704862</c:v>
                </c:pt>
                <c:pt idx="30">
                  <c:v>11315.975017626675</c:v>
                </c:pt>
                <c:pt idx="31">
                  <c:v>11319.875388161876</c:v>
                </c:pt>
                <c:pt idx="32">
                  <c:v>11350.438291637705</c:v>
                </c:pt>
                <c:pt idx="33">
                  <c:v>11439.426745540826</c:v>
                </c:pt>
                <c:pt idx="34">
                  <c:v>11469.589611013047</c:v>
                </c:pt>
                <c:pt idx="35">
                  <c:v>11649.816732589596</c:v>
                </c:pt>
                <c:pt idx="36">
                  <c:v>11735.384861561848</c:v>
                </c:pt>
                <c:pt idx="37">
                  <c:v>11803.781359229128</c:v>
                </c:pt>
                <c:pt idx="38">
                  <c:v>11879.758577064822</c:v>
                </c:pt>
                <c:pt idx="39">
                  <c:v>11856.55637285542</c:v>
                </c:pt>
                <c:pt idx="40">
                  <c:v>11781.299223426226</c:v>
                </c:pt>
                <c:pt idx="41">
                  <c:v>11746.825948465104</c:v>
                </c:pt>
                <c:pt idx="42">
                  <c:v>11712.59269630615</c:v>
                </c:pt>
                <c:pt idx="43">
                  <c:v>11675.09913441777</c:v>
                </c:pt>
                <c:pt idx="44">
                  <c:v>11630.554902715758</c:v>
                </c:pt>
                <c:pt idx="45">
                  <c:v>11635.365359709172</c:v>
                </c:pt>
                <c:pt idx="46">
                  <c:v>11726.113980828179</c:v>
                </c:pt>
                <c:pt idx="47">
                  <c:v>11813.702301718664</c:v>
                </c:pt>
                <c:pt idx="48">
                  <c:v>11854.016131532497</c:v>
                </c:pt>
                <c:pt idx="49">
                  <c:v>11948.1550747321</c:v>
                </c:pt>
                <c:pt idx="50">
                  <c:v>12037.91360179217</c:v>
                </c:pt>
                <c:pt idx="51">
                  <c:v>12092.40877883399</c:v>
                </c:pt>
                <c:pt idx="52">
                  <c:v>12185.467619423845</c:v>
                </c:pt>
                <c:pt idx="53">
                  <c:v>12276.776293747906</c:v>
                </c:pt>
                <c:pt idx="54">
                  <c:v>12309.199373940524</c:v>
                </c:pt>
                <c:pt idx="55">
                  <c:v>12419.319835384362</c:v>
                </c:pt>
                <c:pt idx="56">
                  <c:v>12442.402028192679</c:v>
                </c:pt>
                <c:pt idx="57">
                  <c:v>12443.22210610008</c:v>
                </c:pt>
                <c:pt idx="58">
                  <c:v>12470.804726449012</c:v>
                </c:pt>
                <c:pt idx="59">
                  <c:v>12596.77669378591</c:v>
                </c:pt>
                <c:pt idx="60">
                  <c:v>12725.92896325151</c:v>
                </c:pt>
                <c:pt idx="61">
                  <c:v>12826.388506908157</c:v>
                </c:pt>
                <c:pt idx="62">
                  <c:v>12906.20608957851</c:v>
                </c:pt>
                <c:pt idx="63">
                  <c:v>12999.354938719178</c:v>
                </c:pt>
                <c:pt idx="64">
                  <c:v>13152.149454198146</c:v>
                </c:pt>
                <c:pt idx="65">
                  <c:v>13211.815122436632</c:v>
                </c:pt>
                <c:pt idx="66">
                  <c:v>13328.586215690491</c:v>
                </c:pt>
                <c:pt idx="67">
                  <c:v>13388.311889629515</c:v>
                </c:pt>
                <c:pt idx="68">
                  <c:v>13525.42491536696</c:v>
                </c:pt>
                <c:pt idx="69">
                  <c:v>13646.466414309358</c:v>
                </c:pt>
                <c:pt idx="70">
                  <c:v>13748.636120431442</c:v>
                </c:pt>
                <c:pt idx="71">
                  <c:v>13830.323880768674</c:v>
                </c:pt>
                <c:pt idx="72">
                  <c:v>13939.594261454838</c:v>
                </c:pt>
                <c:pt idx="73">
                  <c:v>13985.028577714884</c:v>
                </c:pt>
                <c:pt idx="74">
                  <c:v>14115.66098779384</c:v>
                </c:pt>
                <c:pt idx="75">
                  <c:v>14209.069861636855</c:v>
                </c:pt>
                <c:pt idx="76">
                  <c:v>14346.09287882349</c:v>
                </c:pt>
                <c:pt idx="77">
                  <c:v>14408.208779834085</c:v>
                </c:pt>
                <c:pt idx="78">
                  <c:v>14547.752036443462</c:v>
                </c:pt>
                <c:pt idx="79">
                  <c:v>14672.913926823048</c:v>
                </c:pt>
                <c:pt idx="80">
                  <c:v>14869.322585645637</c:v>
                </c:pt>
                <c:pt idx="81">
                  <c:v>14969.472099849487</c:v>
                </c:pt>
                <c:pt idx="82">
                  <c:v>15046.999464949171</c:v>
                </c:pt>
                <c:pt idx="83">
                  <c:v>15162.180407138681</c:v>
                </c:pt>
                <c:pt idx="84">
                  <c:v>15254.109140368335</c:v>
                </c:pt>
                <c:pt idx="85">
                  <c:v>15400.09300883584</c:v>
                </c:pt>
                <c:pt idx="86">
                  <c:v>15523.514733899723</c:v>
                </c:pt>
                <c:pt idx="87">
                  <c:v>15665.938264135093</c:v>
                </c:pt>
                <c:pt idx="88">
                  <c:v>15736.744990774125</c:v>
                </c:pt>
                <c:pt idx="89">
                  <c:v>15765.087683329917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基准指数</c:v>
                </c:pt>
              </c:strCache>
            </c:strRef>
          </c:tx>
          <c:spPr>
            <a:ln w="17780"/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2019-01</c:v>
                </c:pt>
                <c:pt idx="1">
                  <c:v>2019-02</c:v>
                </c:pt>
                <c:pt idx="2">
                  <c:v>2019-03</c:v>
                </c:pt>
                <c:pt idx="3">
                  <c:v>2019-04</c:v>
                </c:pt>
                <c:pt idx="4">
                  <c:v>2019-05</c:v>
                </c:pt>
                <c:pt idx="5">
                  <c:v>2019-06</c:v>
                </c:pt>
                <c:pt idx="6">
                  <c:v>2019-07</c:v>
                </c:pt>
                <c:pt idx="7">
                  <c:v>2019-08</c:v>
                </c:pt>
                <c:pt idx="8">
                  <c:v>2019-09</c:v>
                </c:pt>
                <c:pt idx="9">
                  <c:v>2019-10</c:v>
                </c:pt>
                <c:pt idx="10">
                  <c:v>2019-11</c:v>
                </c:pt>
                <c:pt idx="11">
                  <c:v>2019-12</c:v>
                </c:pt>
                <c:pt idx="12">
                  <c:v>2020-01</c:v>
                </c:pt>
                <c:pt idx="13">
                  <c:v>2020-02</c:v>
                </c:pt>
                <c:pt idx="14">
                  <c:v>2020-03</c:v>
                </c:pt>
                <c:pt idx="15">
                  <c:v>2020-04</c:v>
                </c:pt>
                <c:pt idx="16">
                  <c:v>2020-05</c:v>
                </c:pt>
                <c:pt idx="17">
                  <c:v>2020-06</c:v>
                </c:pt>
                <c:pt idx="18">
                  <c:v>2020-07</c:v>
                </c:pt>
                <c:pt idx="19">
                  <c:v>2020-08</c:v>
                </c:pt>
                <c:pt idx="20">
                  <c:v>2020-09</c:v>
                </c:pt>
                <c:pt idx="21">
                  <c:v>2020-10</c:v>
                </c:pt>
                <c:pt idx="22">
                  <c:v>2020-11</c:v>
                </c:pt>
                <c:pt idx="23">
                  <c:v>2020-12</c:v>
                </c:pt>
                <c:pt idx="24">
                  <c:v>2021-01</c:v>
                </c:pt>
                <c:pt idx="25">
                  <c:v>2021-02</c:v>
                </c:pt>
                <c:pt idx="26">
                  <c:v>2021-03</c:v>
                </c:pt>
                <c:pt idx="27">
                  <c:v>2021-04</c:v>
                </c:pt>
                <c:pt idx="28">
                  <c:v>2021-05</c:v>
                </c:pt>
                <c:pt idx="29">
                  <c:v>2021-06</c:v>
                </c:pt>
                <c:pt idx="30">
                  <c:v>2021-07</c:v>
                </c:pt>
                <c:pt idx="31">
                  <c:v>2021-08</c:v>
                </c:pt>
                <c:pt idx="32">
                  <c:v>2021-09</c:v>
                </c:pt>
                <c:pt idx="33">
                  <c:v>2021-10</c:v>
                </c:pt>
                <c:pt idx="34">
                  <c:v>2021-11</c:v>
                </c:pt>
                <c:pt idx="35">
                  <c:v>2021-12</c:v>
                </c:pt>
                <c:pt idx="36">
                  <c:v>2022-01</c:v>
                </c:pt>
                <c:pt idx="37">
                  <c:v>2022-02</c:v>
                </c:pt>
                <c:pt idx="38">
                  <c:v>2022-03</c:v>
                </c:pt>
                <c:pt idx="39">
                  <c:v>2022-04</c:v>
                </c:pt>
                <c:pt idx="40">
                  <c:v>2022-05</c:v>
                </c:pt>
                <c:pt idx="41">
                  <c:v>2022-06</c:v>
                </c:pt>
                <c:pt idx="42">
                  <c:v>2022-07</c:v>
                </c:pt>
                <c:pt idx="43">
                  <c:v>2022-08</c:v>
                </c:pt>
                <c:pt idx="44">
                  <c:v>2022-09</c:v>
                </c:pt>
                <c:pt idx="45">
                  <c:v>2022-10</c:v>
                </c:pt>
                <c:pt idx="46">
                  <c:v>2022-11</c:v>
                </c:pt>
                <c:pt idx="47">
                  <c:v>2022-12</c:v>
                </c:pt>
                <c:pt idx="48">
                  <c:v>2023-01</c:v>
                </c:pt>
                <c:pt idx="49">
                  <c:v>2023-02</c:v>
                </c:pt>
                <c:pt idx="50">
                  <c:v>2023-03</c:v>
                </c:pt>
                <c:pt idx="51">
                  <c:v>2023-04</c:v>
                </c:pt>
                <c:pt idx="52">
                  <c:v>2023-05</c:v>
                </c:pt>
                <c:pt idx="53">
                  <c:v>2023-06</c:v>
                </c:pt>
                <c:pt idx="54">
                  <c:v>2023-07</c:v>
                </c:pt>
                <c:pt idx="55">
                  <c:v>2023-08</c:v>
                </c:pt>
                <c:pt idx="56">
                  <c:v>2023-09</c:v>
                </c:pt>
                <c:pt idx="57">
                  <c:v>2023-10</c:v>
                </c:pt>
                <c:pt idx="58">
                  <c:v>2023-11</c:v>
                </c:pt>
                <c:pt idx="59">
                  <c:v>2023-12</c:v>
                </c:pt>
                <c:pt idx="60">
                  <c:v>2024-01</c:v>
                </c:pt>
                <c:pt idx="61">
                  <c:v>2024-02</c:v>
                </c:pt>
                <c:pt idx="62">
                  <c:v>2024-03</c:v>
                </c:pt>
                <c:pt idx="63">
                  <c:v>2024-04</c:v>
                </c:pt>
                <c:pt idx="64">
                  <c:v>2024-05</c:v>
                </c:pt>
                <c:pt idx="65">
                  <c:v>2024-06</c:v>
                </c:pt>
                <c:pt idx="66">
                  <c:v>2024-07</c:v>
                </c:pt>
                <c:pt idx="67">
                  <c:v>2024-08</c:v>
                </c:pt>
                <c:pt idx="68">
                  <c:v>2024-09</c:v>
                </c:pt>
                <c:pt idx="69">
                  <c:v>2024-10</c:v>
                </c:pt>
                <c:pt idx="70">
                  <c:v>2024-11</c:v>
                </c:pt>
                <c:pt idx="71">
                  <c:v>2024-12</c:v>
                </c:pt>
                <c:pt idx="72">
                  <c:v>2025-01</c:v>
                </c:pt>
                <c:pt idx="73">
                  <c:v>2025-02</c:v>
                </c:pt>
                <c:pt idx="74">
                  <c:v>2025-03</c:v>
                </c:pt>
                <c:pt idx="75">
                  <c:v>2025-04</c:v>
                </c:pt>
                <c:pt idx="76">
                  <c:v>2025-05</c:v>
                </c:pt>
                <c:pt idx="77">
                  <c:v>2025-06</c:v>
                </c:pt>
                <c:pt idx="78">
                  <c:v>2025-07</c:v>
                </c:pt>
                <c:pt idx="79">
                  <c:v>2025-08</c:v>
                </c:pt>
                <c:pt idx="80">
                  <c:v>2025-09</c:v>
                </c:pt>
                <c:pt idx="81">
                  <c:v>2025-10</c:v>
                </c:pt>
                <c:pt idx="82">
                  <c:v>2025-11</c:v>
                </c:pt>
                <c:pt idx="83">
                  <c:v>2025-12</c:v>
                </c:pt>
                <c:pt idx="84">
                  <c:v>2026-01</c:v>
                </c:pt>
                <c:pt idx="85">
                  <c:v>2026-02</c:v>
                </c:pt>
                <c:pt idx="86">
                  <c:v>2026-03</c:v>
                </c:pt>
                <c:pt idx="87">
                  <c:v>2026-04</c:v>
                </c:pt>
                <c:pt idx="88">
                  <c:v>2026-05</c:v>
                </c:pt>
                <c:pt idx="89">
                  <c:v>2026-06</c:v>
                </c:pt>
              </c:strCache>
            </c:strRef>
          </c:cat>
          <c:val>
            <c:numRef>
              <c:f>Sheet1!$C$2:$C$91</c:f>
              <c:numCache>
                <c:formatCode>General</c:formatCode>
                <c:ptCount val="90"/>
                <c:pt idx="0">
                  <c:v>10058.436778666326</c:v>
                </c:pt>
                <c:pt idx="1">
                  <c:v>10162.24882086322</c:v>
                </c:pt>
                <c:pt idx="2">
                  <c:v>10159.64851922823</c:v>
                </c:pt>
                <c:pt idx="3">
                  <c:v>10252.439282956822</c:v>
                </c:pt>
                <c:pt idx="4">
                  <c:v>10273.691748242796</c:v>
                </c:pt>
                <c:pt idx="5">
                  <c:v>10340.40948750055</c:v>
                </c:pt>
                <c:pt idx="6">
                  <c:v>10389.6552000032</c:v>
                </c:pt>
                <c:pt idx="7">
                  <c:v>10514.56969008405</c:v>
                </c:pt>
                <c:pt idx="8">
                  <c:v>10576.40686319613</c:v>
                </c:pt>
                <c:pt idx="9">
                  <c:v>10638.374051389961</c:v>
                </c:pt>
                <c:pt idx="10">
                  <c:v>10702.0214344864</c:v>
                </c:pt>
                <c:pt idx="11">
                  <c:v>10736.33541490813</c:v>
                </c:pt>
                <c:pt idx="12">
                  <c:v>10797.292485928368</c:v>
                </c:pt>
                <c:pt idx="13">
                  <c:v>10399.306319533065</c:v>
                </c:pt>
                <c:pt idx="14">
                  <c:v>9504.16248284801</c:v>
                </c:pt>
                <c:pt idx="15">
                  <c:v>9582.181533057836</c:v>
                </c:pt>
                <c:pt idx="16">
                  <c:v>9615.355381224223</c:v>
                </c:pt>
                <c:pt idx="17">
                  <c:v>9666.661332714595</c:v>
                </c:pt>
                <c:pt idx="18">
                  <c:v>9729.458617199596</c:v>
                </c:pt>
                <c:pt idx="19">
                  <c:v>9819.689083933736</c:v>
                </c:pt>
                <c:pt idx="20">
                  <c:v>9930.901984630218</c:v>
                </c:pt>
                <c:pt idx="21">
                  <c:v>10015.711822571418</c:v>
                </c:pt>
                <c:pt idx="22">
                  <c:v>10080.759368086698</c:v>
                </c:pt>
                <c:pt idx="23">
                  <c:v>10171.159854543128</c:v>
                </c:pt>
                <c:pt idx="24">
                  <c:v>10260.19018206112</c:v>
                </c:pt>
                <c:pt idx="25">
                  <c:v>10304.645338859307</c:v>
                </c:pt>
                <c:pt idx="26">
                  <c:v>10351.240743926295</c:v>
                </c:pt>
                <c:pt idx="27">
                  <c:v>10432.650187421743</c:v>
                </c:pt>
                <c:pt idx="28">
                  <c:v>10586.10798852667</c:v>
                </c:pt>
                <c:pt idx="29">
                  <c:v>10679.718847386297</c:v>
                </c:pt>
                <c:pt idx="30">
                  <c:v>10792.341911661753</c:v>
                </c:pt>
                <c:pt idx="31">
                  <c:v>10791.861855975294</c:v>
                </c:pt>
                <c:pt idx="32">
                  <c:v>10797.892555536442</c:v>
                </c:pt>
                <c:pt idx="33">
                  <c:v>10873.721351676795</c:v>
                </c:pt>
                <c:pt idx="34">
                  <c:v>10881.372239179746</c:v>
                </c:pt>
                <c:pt idx="35">
                  <c:v>11035.070068127903</c:v>
                </c:pt>
                <c:pt idx="36">
                  <c:v>11103.357989526785</c:v>
                </c:pt>
                <c:pt idx="37">
                  <c:v>11150.413447959963</c:v>
                </c:pt>
                <c:pt idx="38">
                  <c:v>11208.160146577004</c:v>
                </c:pt>
                <c:pt idx="39">
                  <c:v>11141.592424721268</c:v>
                </c:pt>
                <c:pt idx="40">
                  <c:v>11044.451156334135</c:v>
                </c:pt>
                <c:pt idx="41">
                  <c:v>10980.913785999175</c:v>
                </c:pt>
                <c:pt idx="42">
                  <c:v>10913.485964371866</c:v>
                </c:pt>
                <c:pt idx="43">
                  <c:v>10862.930099891588</c:v>
                </c:pt>
                <c:pt idx="44">
                  <c:v>10800.262830488336</c:v>
                </c:pt>
                <c:pt idx="45">
                  <c:v>10792.121886138792</c:v>
                </c:pt>
                <c:pt idx="46">
                  <c:v>10848.638442059279</c:v>
                </c:pt>
                <c:pt idx="47">
                  <c:v>10906.285129074973</c:v>
                </c:pt>
                <c:pt idx="48">
                  <c:v>10963.561773165688</c:v>
                </c:pt>
                <c:pt idx="49">
                  <c:v>11010.677238559672</c:v>
                </c:pt>
                <c:pt idx="50">
                  <c:v>11081.605466234083</c:v>
                </c:pt>
                <c:pt idx="51">
                  <c:v>11114.639298158587</c:v>
                </c:pt>
                <c:pt idx="52">
                  <c:v>11180.906985210284</c:v>
                </c:pt>
                <c:pt idx="53">
                  <c:v>11256.955806873597</c:v>
                </c:pt>
                <c:pt idx="54">
                  <c:v>11288.289441575223</c:v>
                </c:pt>
                <c:pt idx="55">
                  <c:v>11388.931116009457</c:v>
                </c:pt>
                <c:pt idx="56">
                  <c:v>11420.584787835389</c:v>
                </c:pt>
                <c:pt idx="57">
                  <c:v>11414.414072032356</c:v>
                </c:pt>
                <c:pt idx="58">
                  <c:v>11417.744458357169</c:v>
                </c:pt>
                <c:pt idx="59">
                  <c:v>11516.23588336247</c:v>
                </c:pt>
                <c:pt idx="60">
                  <c:v>11630.349120497978</c:v>
                </c:pt>
                <c:pt idx="61">
                  <c:v>11695.916726340256</c:v>
                </c:pt>
                <c:pt idx="62">
                  <c:v>11790.707722095764</c:v>
                </c:pt>
                <c:pt idx="63">
                  <c:v>11864.326261846374</c:v>
                </c:pt>
                <c:pt idx="64">
                  <c:v>11996.061543139005</c:v>
                </c:pt>
                <c:pt idx="65">
                  <c:v>12011.543339027327</c:v>
                </c:pt>
                <c:pt idx="66">
                  <c:v>12081.151413563974</c:v>
                </c:pt>
                <c:pt idx="67">
                  <c:v>12118.025690980154</c:v>
                </c:pt>
                <c:pt idx="68">
                  <c:v>12203.67562637266</c:v>
                </c:pt>
                <c:pt idx="69">
                  <c:v>12296.726420264751</c:v>
                </c:pt>
                <c:pt idx="70">
                  <c:v>12339.971436686656</c:v>
                </c:pt>
                <c:pt idx="71">
                  <c:v>12385.316696736822</c:v>
                </c:pt>
                <c:pt idx="72">
                  <c:v>12506.520756407743</c:v>
                </c:pt>
                <c:pt idx="73">
                  <c:v>12548.795660296595</c:v>
                </c:pt>
                <c:pt idx="74">
                  <c:v>12648.927275563965</c:v>
                </c:pt>
                <c:pt idx="75">
                  <c:v>12705.63385352701</c:v>
                </c:pt>
                <c:pt idx="76">
                  <c:v>12802.495089430375</c:v>
                </c:pt>
                <c:pt idx="77">
                  <c:v>12850.560665037145</c:v>
                </c:pt>
                <c:pt idx="78">
                  <c:v>12934.280376523677</c:v>
                </c:pt>
                <c:pt idx="79">
                  <c:v>13007.808905833075</c:v>
                </c:pt>
                <c:pt idx="80">
                  <c:v>13171.057842709755</c:v>
                </c:pt>
                <c:pt idx="81">
                  <c:v>13252.597301286949</c:v>
                </c:pt>
                <c:pt idx="82">
                  <c:v>13306.583563693388</c:v>
                </c:pt>
                <c:pt idx="83">
                  <c:v>13396.904040868742</c:v>
                </c:pt>
                <c:pt idx="84">
                  <c:v>13469.472458805221</c:v>
                </c:pt>
                <c:pt idx="85">
                  <c:v>13599.027487188514</c:v>
                </c:pt>
                <c:pt idx="86">
                  <c:v>13690.29807457665</c:v>
                </c:pt>
                <c:pt idx="87">
                  <c:v>13799.540746726621</c:v>
                </c:pt>
                <c:pt idx="88">
                  <c:v>13873.299302719115</c:v>
                </c:pt>
                <c:pt idx="89">
                  <c:v>13875.839597393298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6616" y="356616"/>
            <a:ext cx="640080" cy="640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0000"/>
                </a:solidFill>
                <a:latin typeface="Microsoft YaHei"/>
              </a:rPr>
              <a:t>AGEF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9768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Microsoft YaHei"/>
              </a:rPr>
              <a:t>Alpha Global Equity Fund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488" y="428371"/>
            <a:ext cx="1325880" cy="405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1161288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>
                <a:solidFill>
                  <a:srgbClr val="000000"/>
                </a:solidFill>
                <a:latin typeface="Microsoft YaHei"/>
              </a:rPr>
              <a:t>基金概览 - 截至2026年6月30日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" y="1389888"/>
            <a:ext cx="6846752" cy="0"/>
          </a:xfrm>
          <a:prstGeom prst="line">
            <a:avLst/>
          </a:prstGeom>
          <a:ln w="762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1517904"/>
            <a:ext cx="4325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基金概况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28216"/>
            <a:ext cx="4325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000000"/>
                </a:solidFill>
                <a:latin typeface="Microsoft YaHei"/>
              </a:rPr>
              <a:t>本基金采用全球多元化股票投资策略，主要投资于发达市场中的优质企业，旨在实现长期资本增值。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" y="2194560"/>
            <a:ext cx="4325112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4048" y="2286000"/>
            <a:ext cx="4325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成立以来假设投资10,000的增长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514600"/>
          <a:ext cx="4325112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4507992"/>
            <a:ext cx="43251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" b="0">
                <a:solidFill>
                  <a:srgbClr val="464646"/>
                </a:solidFill>
                <a:latin typeface="Microsoft YaHei"/>
              </a:rPr>
              <a:t>该图展示假设初始投资10,000的增长，并比较基金与基准的表现。演示数据均为虚构数据。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919472"/>
            <a:ext cx="4325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年度业绩表现 (%)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5148072"/>
          <a:ext cx="4325110" cy="70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775"/>
                <a:gridCol w="666067"/>
                <a:gridCol w="666067"/>
                <a:gridCol w="666067"/>
                <a:gridCol w="666067"/>
                <a:gridCol w="666067"/>
              </a:tblGrid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2024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2025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2026 年初至今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基准指数</a:t>
                      </a:r>
                    </a:p>
                  </a:txBody>
                  <a:tcPr marL="25400" marR="25400" marT="15240" marB="15240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-1.17%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5.59%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7.55%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8.17%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3.57%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基金</a:t>
                      </a:r>
                    </a:p>
                  </a:txBody>
                  <a:tcPr marL="25400" marR="25400" marT="15240" marB="15240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1.41%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6.63%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9.79%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9.63%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3.98%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4048" y="5943600"/>
            <a:ext cx="4325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年化业绩表现 (%)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6172200"/>
          <a:ext cx="4325111" cy="70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775"/>
                <a:gridCol w="555056"/>
                <a:gridCol w="555056"/>
                <a:gridCol w="555056"/>
                <a:gridCol w="555056"/>
                <a:gridCol w="555056"/>
                <a:gridCol w="555056"/>
              </a:tblGrid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年初至今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1年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3年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5年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10年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成立以来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基金</a:t>
                      </a:r>
                    </a:p>
                  </a:txBody>
                  <a:tcPr marL="25400" marR="25400" marT="15240" marB="15240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3.98%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9.42%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8.69%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7.11%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6.27%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34696">
                <a:tc>
                  <a:txBody>
                    <a:bodyPr wrap="square"/>
                    <a:lstStyle/>
                    <a:p>
                      <a:pPr algn="l"/>
                      <a:r>
                        <a:rPr sz="570" b="1">
                          <a:solidFill>
                            <a:srgbClr val="000000"/>
                          </a:solidFill>
                          <a:latin typeface="Microsoft YaHei"/>
                        </a:rPr>
                        <a:t>基准指数</a:t>
                      </a:r>
                    </a:p>
                  </a:txBody>
                  <a:tcPr marL="25400" marR="25400" marT="15240" marB="15240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3.57%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7.98%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7.22%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5.38%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70" b="0">
                          <a:solidFill>
                            <a:srgbClr val="000000"/>
                          </a:solidFill>
                          <a:latin typeface="Microsoft YaHei"/>
                        </a:rPr>
                        <a:t>4.47%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4048" y="6967728"/>
          <a:ext cx="4325111" cy="329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74519"/>
                <a:gridCol w="10789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0000"/>
                          </a:solidFill>
                          <a:latin typeface="Microsoft YaHei"/>
                        </a:rPr>
                        <a:t>净收益表现</a:t>
                      </a:r>
                    </a:p>
                  </a:txBody>
                  <a:tcPr marL="25400" marR="25400" marT="15240" marB="15240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000000"/>
                          </a:solidFill>
                          <a:latin typeface="Microsoft YaHei"/>
                        </a:rPr>
                        <a:t>2019.1-2026.6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80" b="0">
                          <a:solidFill>
                            <a:srgbClr val="000000"/>
                          </a:solidFill>
                          <a:latin typeface="Microsoft YaHei"/>
                        </a:rPr>
                        <a:t>57.65%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84048" y="7406640"/>
            <a:ext cx="4325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" b="0">
                <a:solidFill>
                  <a:srgbClr val="464646"/>
                </a:solidFill>
                <a:latin typeface="Microsoft YaHei"/>
              </a:rPr>
              <a:t>过往业绩并不代表未来表现。投资回报及本金价值可能波动。本演示中的业绩数据由虚构数据计算得出，不应作为投资决策依据。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7936992"/>
            <a:ext cx="4325112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18888" y="1517904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基金基本信息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1764792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资产类别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589" y="1764792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全球股票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048256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基准指数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589" y="2048256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Global Equity Benchmark (Demo)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2331720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基金成立日期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6589" y="2331720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2019/1/2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615184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币种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6589" y="2615184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898648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代码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6589" y="2898648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AGEF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3182112"/>
            <a:ext cx="1357701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基金净资产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6589" y="3182112"/>
            <a:ext cx="98316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EUR 544.98m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18888" y="3493008"/>
            <a:ext cx="2340864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818888" y="3593592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费用明细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831336"/>
            <a:ext cx="135770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管理费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6589" y="3831336"/>
            <a:ext cx="9831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0.75%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18888" y="4087368"/>
            <a:ext cx="2340864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18888" y="4187952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基金特征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888" y="4443984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年化波动率 (3年)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6589" y="4443984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1.05%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88" y="4709160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夏普比率 (3年) 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6589" y="4709160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5.34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4974336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最大回撤 (3年) 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6589" y="4974336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-0.28%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5239512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Beta (3年) 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6589" y="5239512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0.81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504688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跟踪误差 (3年) 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6589" y="5504688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0.54%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8888" y="5769864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持仓数量 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6589" y="5769864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6035040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现金占比 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6589" y="6035040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12.30%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8888" y="6300216"/>
            <a:ext cx="135770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000000"/>
                </a:solidFill>
                <a:latin typeface="Microsoft YaHei"/>
              </a:rPr>
              <a:t>前十大持仓集中度 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6589" y="6300216"/>
            <a:ext cx="983162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Microsoft YaHei"/>
              </a:rPr>
              <a:t>65.50%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818888" y="6592824"/>
            <a:ext cx="2340864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818888" y="6693408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主要持仓 (%)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8888" y="6922008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Northstar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51127" y="6922008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9.00%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8888" y="7114032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Atlas Cloud Systems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1127" y="7114032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8.20%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18888" y="7306056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Helios Healthcare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51127" y="7306056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7.40%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7498080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Aurora Consumer Brands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51127" y="7498080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6.80%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8888" y="7690104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Meridian Financial Group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1127" y="7690104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6.60%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8888" y="7882128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Pacific Automation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51127" y="7882128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6.10%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8074152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GreenGrid Utilities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51127" y="8074152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5.70%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18888" y="8266176"/>
            <a:ext cx="17322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" b="0">
                <a:solidFill>
                  <a:srgbClr val="000000"/>
                </a:solidFill>
                <a:latin typeface="Microsoft YaHei"/>
              </a:rPr>
              <a:t>Nova Semiconductors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51127" y="8266176"/>
            <a:ext cx="608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20" b="0">
                <a:solidFill>
                  <a:srgbClr val="000000"/>
                </a:solidFill>
                <a:latin typeface="Microsoft YaHei"/>
              </a:rPr>
              <a:t>5.50%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18888" y="8476488"/>
            <a:ext cx="23408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0">
                <a:solidFill>
                  <a:srgbClr val="464646"/>
                </a:solidFill>
                <a:latin typeface="Microsoft YaHei"/>
              </a:rPr>
              <a:t>持仓可能发生变化。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818888" y="8741664"/>
            <a:ext cx="2340864" cy="0"/>
          </a:xfrm>
          <a:prstGeom prst="line">
            <a:avLst/>
          </a:prstGeom>
          <a:ln w="6985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56616" y="10369296"/>
            <a:ext cx="42976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0">
                <a:solidFill>
                  <a:srgbClr val="555555"/>
                </a:solidFill>
                <a:latin typeface="Microsoft YaHei"/>
              </a:rPr>
              <a:t>虚构演示 - 不作为投资依据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10369296"/>
            <a:ext cx="80467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0">
                <a:solidFill>
                  <a:srgbClr val="555555"/>
                </a:solidFill>
                <a:latin typeface="Microsoft YaHei"/>
              </a:rPr>
              <a:t>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6616" y="429768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Microsoft YaHei"/>
              </a:rPr>
              <a:t>Alpha Global Equity Fund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6616" y="1078992"/>
            <a:ext cx="6846752" cy="0"/>
          </a:xfrm>
          <a:prstGeom prst="line">
            <a:avLst/>
          </a:prstGeom>
          <a:ln w="762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120700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术语说明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年化波动率: 衡量基金日收益率的波动程度，并按每年252个交易日进行年化。数值越高，表示历史收益波动范围越大。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993392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夏普比率: 衡量单位波动风险所对应的历史超额收益。计算使用网页中选择的无风险利率。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523744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最大回撤: 衡量所选期间内基金净值从历史高点到后续低点的最大跌幅。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054096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Beta: 衡量基金收益相对于基准收益的敏感程度。Beta为1表示历史敏感度与基准大致一致。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1463040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跟踪误差: 衡量基金收益与基准收益差异的年化标准差。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993392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基金净资产: 所选报告日期当日或之前最新可用的基金资产管理规模。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523744"/>
            <a:ext cx="32461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90" b="0">
                <a:solidFill>
                  <a:srgbClr val="000000"/>
                </a:solidFill>
                <a:latin typeface="Microsoft YaHei"/>
              </a:rPr>
              <a:t>持仓数量: 所选持仓快照中的投资组合持仓数量，默认不包含现金。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3630168"/>
            <a:ext cx="6793992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" y="375818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行业配置 (%)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4048" y="4005072"/>
          <a:ext cx="324611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206"/>
                <a:gridCol w="908913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信息技术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22.70%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其他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17.50%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现金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12.30%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医疗保健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12.10%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金融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11.60%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工业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11.30%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可选消费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6.80%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公用事业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5.70%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858768" y="375818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国家/地区配置 (%)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58768" y="4005072"/>
          <a:ext cx="3246119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206"/>
                <a:gridCol w="908913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美国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26.60%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其他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23.00%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欧元区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12.30%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瑞士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7.40%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法国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6.80%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英国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6.60%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日本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6.10%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西班牙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5.70%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中国台湾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590" b="0">
                          <a:solidFill>
                            <a:srgbClr val="000000"/>
                          </a:solidFill>
                          <a:latin typeface="Microsoft YaHei"/>
                        </a:rPr>
                        <a:t>5.50%</a:t>
                      </a:r>
                    </a:p>
                  </a:txBody>
                  <a:tcPr marL="25400" marR="25400" marT="15240" marB="152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384048" y="5998464"/>
            <a:ext cx="6793992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048" y="6126480"/>
            <a:ext cx="6793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1">
                <a:solidFill>
                  <a:srgbClr val="000000"/>
                </a:solidFill>
                <a:latin typeface="Microsoft YaHei"/>
              </a:rPr>
              <a:t>重要信息：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373368"/>
            <a:ext cx="67939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0">
                <a:solidFill>
                  <a:srgbClr val="000000"/>
                </a:solidFill>
                <a:latin typeface="Microsoft YaHei"/>
              </a:rPr>
              <a:t>业绩口径: 扣费后（虚构演示净值）. 基准口径: 总回报基准（虚构演示）.
本文件仅用于展示自动化投资者关系报告流程，所有数据均为虚构示例，并非真实投资业绩。本文件不构成投资建议、推荐、要约或招揽。正式使用时，应采用基金管理人或行政管理人确认的净值及总回报数据、经批准的基准序列、经验证的持仓数据以及合规部门批准的披露文本。
过往业绩并不代表未来表现。投资回报及本金价值可能波动。风险指标会受到测量期间、观察频率、基准方法以及无风险利率的影响。持仓及配置可能发生变化。任何对外发送的文件均应由相关人员复核。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10369296"/>
            <a:ext cx="42976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0">
                <a:solidFill>
                  <a:srgbClr val="555555"/>
                </a:solidFill>
                <a:latin typeface="Microsoft YaHei"/>
              </a:rPr>
              <a:t>虚构演示 - 不作为投资依据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369296"/>
            <a:ext cx="80467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0">
                <a:solidFill>
                  <a:srgbClr val="555555"/>
                </a:solidFill>
                <a:latin typeface="Microsoft YaHei"/>
              </a:rPr>
              <a:t>第2页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